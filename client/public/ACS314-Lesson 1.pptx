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71" r:id="rId3"/>
    <p:sldId id="258" r:id="rId4"/>
    <p:sldId id="259" r:id="rId5"/>
    <p:sldId id="260" r:id="rId6"/>
    <p:sldId id="261" r:id="rId7"/>
    <p:sldId id="267" r:id="rId8"/>
    <p:sldId id="262" r:id="rId9"/>
    <p:sldId id="263" r:id="rId10"/>
    <p:sldId id="264" r:id="rId11"/>
    <p:sldId id="265" r:id="rId12"/>
    <p:sldId id="266" r:id="rId13"/>
    <p:sldId id="269" r:id="rId14"/>
    <p:sldId id="273" r:id="rId15"/>
    <p:sldId id="274" r:id="rId16"/>
    <p:sldId id="275" r:id="rId17"/>
    <p:sldId id="272" r:id="rId18"/>
    <p:sldId id="276" r:id="rId19"/>
    <p:sldId id="277" r:id="rId20"/>
    <p:sldId id="278" r:id="rId21"/>
  </p:sldIdLst>
  <p:sldSz cx="12192000" cy="6858000"/>
  <p:notesSz cx="6858000" cy="9144000"/>
  <p:defaultTextStyle>
    <a:defPPr>
      <a:defRPr lang="en-US"/>
    </a:defPPr>
    <a:lvl1pPr marL="0" algn="l" defTabSz="545211" rtl="0" eaLnBrk="1" latinLnBrk="0" hangingPunct="1">
      <a:defRPr sz="2100" kern="1200">
        <a:solidFill>
          <a:schemeClr val="tx1"/>
        </a:solidFill>
        <a:latin typeface="+mn-lt"/>
        <a:ea typeface="+mn-ea"/>
        <a:cs typeface="+mn-cs"/>
      </a:defRPr>
    </a:lvl1pPr>
    <a:lvl2pPr marL="545211" algn="l" defTabSz="545211" rtl="0" eaLnBrk="1" latinLnBrk="0" hangingPunct="1">
      <a:defRPr sz="2100" kern="1200">
        <a:solidFill>
          <a:schemeClr val="tx1"/>
        </a:solidFill>
        <a:latin typeface="+mn-lt"/>
        <a:ea typeface="+mn-ea"/>
        <a:cs typeface="+mn-cs"/>
      </a:defRPr>
    </a:lvl2pPr>
    <a:lvl3pPr marL="1090422" algn="l" defTabSz="545211" rtl="0" eaLnBrk="1" latinLnBrk="0" hangingPunct="1">
      <a:defRPr sz="2100" kern="1200">
        <a:solidFill>
          <a:schemeClr val="tx1"/>
        </a:solidFill>
        <a:latin typeface="+mn-lt"/>
        <a:ea typeface="+mn-ea"/>
        <a:cs typeface="+mn-cs"/>
      </a:defRPr>
    </a:lvl3pPr>
    <a:lvl4pPr marL="1635633" algn="l" defTabSz="545211" rtl="0" eaLnBrk="1" latinLnBrk="0" hangingPunct="1">
      <a:defRPr sz="2100" kern="1200">
        <a:solidFill>
          <a:schemeClr val="tx1"/>
        </a:solidFill>
        <a:latin typeface="+mn-lt"/>
        <a:ea typeface="+mn-ea"/>
        <a:cs typeface="+mn-cs"/>
      </a:defRPr>
    </a:lvl4pPr>
    <a:lvl5pPr marL="2180844" algn="l" defTabSz="545211" rtl="0" eaLnBrk="1" latinLnBrk="0" hangingPunct="1">
      <a:defRPr sz="2100" kern="1200">
        <a:solidFill>
          <a:schemeClr val="tx1"/>
        </a:solidFill>
        <a:latin typeface="+mn-lt"/>
        <a:ea typeface="+mn-ea"/>
        <a:cs typeface="+mn-cs"/>
      </a:defRPr>
    </a:lvl5pPr>
    <a:lvl6pPr marL="2726055" algn="l" defTabSz="545211" rtl="0" eaLnBrk="1" latinLnBrk="0" hangingPunct="1">
      <a:defRPr sz="2100" kern="1200">
        <a:solidFill>
          <a:schemeClr val="tx1"/>
        </a:solidFill>
        <a:latin typeface="+mn-lt"/>
        <a:ea typeface="+mn-ea"/>
        <a:cs typeface="+mn-cs"/>
      </a:defRPr>
    </a:lvl6pPr>
    <a:lvl7pPr marL="3271266" algn="l" defTabSz="545211" rtl="0" eaLnBrk="1" latinLnBrk="0" hangingPunct="1">
      <a:defRPr sz="2100" kern="1200">
        <a:solidFill>
          <a:schemeClr val="tx1"/>
        </a:solidFill>
        <a:latin typeface="+mn-lt"/>
        <a:ea typeface="+mn-ea"/>
        <a:cs typeface="+mn-cs"/>
      </a:defRPr>
    </a:lvl7pPr>
    <a:lvl8pPr marL="3816477" algn="l" defTabSz="545211" rtl="0" eaLnBrk="1" latinLnBrk="0" hangingPunct="1">
      <a:defRPr sz="2100" kern="1200">
        <a:solidFill>
          <a:schemeClr val="tx1"/>
        </a:solidFill>
        <a:latin typeface="+mn-lt"/>
        <a:ea typeface="+mn-ea"/>
        <a:cs typeface="+mn-cs"/>
      </a:defRPr>
    </a:lvl8pPr>
    <a:lvl9pPr marL="4361688" algn="l" defTabSz="545211"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312" y="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690579-AA28-4758-BFA2-11C7B6719D56}" type="datetimeFigureOut">
              <a:rPr lang="en-GB" smtClean="0"/>
              <a:t>03/01/2025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201042-C218-43BF-B37E-A227DF9EF427}" type="slidenum">
              <a:rPr lang="en-GB" smtClean="0"/>
              <a:t>‹#›</a:t>
            </a:fld>
            <a:endParaRPr lang="en-GB"/>
          </a:p>
        </p:txBody>
      </p:sp>
    </p:spTree>
    <p:extLst>
      <p:ext uri="{BB962C8B-B14F-4D97-AF65-F5344CB8AC3E}">
        <p14:creationId xmlns:p14="http://schemas.microsoft.com/office/powerpoint/2010/main" val="2456708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D201042-C218-43BF-B37E-A227DF9EF427}" type="slidenum">
              <a:rPr lang="en-GB" smtClean="0"/>
              <a:t>5</a:t>
            </a:fld>
            <a:endParaRPr lang="en-GB"/>
          </a:p>
        </p:txBody>
      </p:sp>
    </p:spTree>
    <p:extLst>
      <p:ext uri="{BB962C8B-B14F-4D97-AF65-F5344CB8AC3E}">
        <p14:creationId xmlns:p14="http://schemas.microsoft.com/office/powerpoint/2010/main" val="42175976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828801" y="3886200"/>
            <a:ext cx="8534400" cy="1752600"/>
          </a:xfrm>
        </p:spPr>
        <p:txBody>
          <a:bodyPr/>
          <a:lstStyle>
            <a:lvl1pPr marL="0" indent="0" algn="ctr">
              <a:buNone/>
              <a:defRPr>
                <a:solidFill>
                  <a:schemeClr val="tx1">
                    <a:tint val="75000"/>
                  </a:schemeClr>
                </a:solidFill>
              </a:defRPr>
            </a:lvl1pPr>
            <a:lvl2pPr marL="543085" indent="0" algn="ctr">
              <a:buNone/>
              <a:defRPr>
                <a:solidFill>
                  <a:schemeClr val="tx1">
                    <a:tint val="75000"/>
                  </a:schemeClr>
                </a:solidFill>
              </a:defRPr>
            </a:lvl2pPr>
            <a:lvl3pPr marL="1086169" indent="0" algn="ctr">
              <a:buNone/>
              <a:defRPr>
                <a:solidFill>
                  <a:schemeClr val="tx1">
                    <a:tint val="75000"/>
                  </a:schemeClr>
                </a:solidFill>
              </a:defRPr>
            </a:lvl3pPr>
            <a:lvl4pPr marL="1629254" indent="0" algn="ctr">
              <a:buNone/>
              <a:defRPr>
                <a:solidFill>
                  <a:schemeClr val="tx1">
                    <a:tint val="75000"/>
                  </a:schemeClr>
                </a:solidFill>
              </a:defRPr>
            </a:lvl4pPr>
            <a:lvl5pPr marL="2172339" indent="0" algn="ctr">
              <a:buNone/>
              <a:defRPr>
                <a:solidFill>
                  <a:schemeClr val="tx1">
                    <a:tint val="75000"/>
                  </a:schemeClr>
                </a:solidFill>
              </a:defRPr>
            </a:lvl5pPr>
            <a:lvl6pPr marL="2715423" indent="0" algn="ctr">
              <a:buNone/>
              <a:defRPr>
                <a:solidFill>
                  <a:schemeClr val="tx1">
                    <a:tint val="75000"/>
                  </a:schemeClr>
                </a:solidFill>
              </a:defRPr>
            </a:lvl6pPr>
            <a:lvl7pPr marL="3258508" indent="0" algn="ctr">
              <a:buNone/>
              <a:defRPr>
                <a:solidFill>
                  <a:schemeClr val="tx1">
                    <a:tint val="75000"/>
                  </a:schemeClr>
                </a:solidFill>
              </a:defRPr>
            </a:lvl7pPr>
            <a:lvl8pPr marL="3801593" indent="0" algn="ctr">
              <a:buNone/>
              <a:defRPr>
                <a:solidFill>
                  <a:schemeClr val="tx1">
                    <a:tint val="75000"/>
                  </a:schemeClr>
                </a:solidFill>
              </a:defRPr>
            </a:lvl8pPr>
            <a:lvl9pPr marL="4344677" indent="0" algn="ctr">
              <a:buNone/>
              <a:defRPr>
                <a:solidFill>
                  <a:schemeClr val="tx1">
                    <a:tint val="75000"/>
                  </a:schemeClr>
                </a:solidFill>
              </a:defRPr>
            </a:lvl9pPr>
          </a:lstStyle>
          <a:p>
            <a:r>
              <a:rPr lang="en-US"/>
              <a:t>Click to edit Master subtitle style</a:t>
            </a:r>
          </a:p>
        </p:txBody>
      </p:sp>
      <p:pic>
        <p:nvPicPr>
          <p:cNvPr id="9" name="Picture 8" descr="Icon&#10;&#10;Description automatically generated with low confidence">
            <a:extLst>
              <a:ext uri="{FF2B5EF4-FFF2-40B4-BE49-F238E27FC236}">
                <a16:creationId xmlns:a16="http://schemas.microsoft.com/office/drawing/2014/main" id="{32DBFADF-1A4A-BF18-7AC4-331AB5BE6F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4825" y="152055"/>
            <a:ext cx="3562350" cy="1285875"/>
          </a:xfrm>
          <a:prstGeom prst="rect">
            <a:avLst/>
          </a:prstGeom>
        </p:spPr>
      </p:pic>
      <p:sp>
        <p:nvSpPr>
          <p:cNvPr id="13" name="Slide Number Placeholder 12">
            <a:extLst>
              <a:ext uri="{FF2B5EF4-FFF2-40B4-BE49-F238E27FC236}">
                <a16:creationId xmlns:a16="http://schemas.microsoft.com/office/drawing/2014/main" id="{998FC768-F562-BCE9-A4F3-53F37FA591BB}"/>
              </a:ext>
            </a:extLst>
          </p:cNvPr>
          <p:cNvSpPr>
            <a:spLocks noGrp="1"/>
          </p:cNvSpPr>
          <p:nvPr>
            <p:ph type="sldNum" sz="quarter" idx="12"/>
          </p:nvPr>
        </p:nvSpPr>
        <p:spPr/>
        <p:txBody>
          <a:bodyPr/>
          <a:lstStyle>
            <a:lvl1pPr>
              <a:defRPr>
                <a:solidFill>
                  <a:schemeClr val="bg1"/>
                </a:solidFill>
              </a:defRPr>
            </a:lvl1pPr>
          </a:lstStyle>
          <a:p>
            <a:fld id="{4CDDF556-89C1-4EE0-AA95-90CFE6E234F8}" type="slidenum">
              <a:rPr lang="en-GB" smtClean="0"/>
              <a:t>‹#›</a:t>
            </a:fld>
            <a:endParaRPr lang="en-GB"/>
          </a:p>
        </p:txBody>
      </p:sp>
    </p:spTree>
    <p:extLst>
      <p:ext uri="{BB962C8B-B14F-4D97-AF65-F5344CB8AC3E}">
        <p14:creationId xmlns:p14="http://schemas.microsoft.com/office/powerpoint/2010/main" val="557645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lvl1pPr>
              <a:defRPr sz="1800">
                <a:solidFill>
                  <a:schemeClr val="bg1"/>
                </a:solidFill>
              </a:defRPr>
            </a:lvl1pPr>
          </a:lstStyle>
          <a:p>
            <a:fld id="{4CDDF556-89C1-4EE0-AA95-90CFE6E234F8}" type="slidenum">
              <a:rPr lang="en-GB" smtClean="0"/>
              <a:t>‹#›</a:t>
            </a:fld>
            <a:endParaRPr lang="en-GB"/>
          </a:p>
        </p:txBody>
      </p:sp>
    </p:spTree>
    <p:extLst>
      <p:ext uri="{BB962C8B-B14F-4D97-AF65-F5344CB8AC3E}">
        <p14:creationId xmlns:p14="http://schemas.microsoft.com/office/powerpoint/2010/main" val="2442974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781" b="1" cap="all"/>
            </a:lvl1pPr>
          </a:lstStyle>
          <a:p>
            <a:r>
              <a:rPr lang="en-US"/>
              <a:t>Click to edit Master title style</a:t>
            </a:r>
          </a:p>
        </p:txBody>
      </p:sp>
      <p:sp>
        <p:nvSpPr>
          <p:cNvPr id="3" name="Text Placeholder 2"/>
          <p:cNvSpPr>
            <a:spLocks noGrp="1"/>
          </p:cNvSpPr>
          <p:nvPr>
            <p:ph type="body" idx="1"/>
          </p:nvPr>
        </p:nvSpPr>
        <p:spPr>
          <a:xfrm>
            <a:off x="963084" y="2906714"/>
            <a:ext cx="10363200" cy="1500187"/>
          </a:xfrm>
        </p:spPr>
        <p:txBody>
          <a:bodyPr anchor="b"/>
          <a:lstStyle>
            <a:lvl1pPr marL="0" indent="0">
              <a:buNone/>
              <a:defRPr sz="2391">
                <a:solidFill>
                  <a:schemeClr val="tx1">
                    <a:tint val="75000"/>
                  </a:schemeClr>
                </a:solidFill>
              </a:defRPr>
            </a:lvl1pPr>
            <a:lvl2pPr marL="543085" indent="0">
              <a:buNone/>
              <a:defRPr sz="2092">
                <a:solidFill>
                  <a:schemeClr val="tx1">
                    <a:tint val="75000"/>
                  </a:schemeClr>
                </a:solidFill>
              </a:defRPr>
            </a:lvl2pPr>
            <a:lvl3pPr marL="1086169" indent="0">
              <a:buNone/>
              <a:defRPr sz="1893">
                <a:solidFill>
                  <a:schemeClr val="tx1">
                    <a:tint val="75000"/>
                  </a:schemeClr>
                </a:solidFill>
              </a:defRPr>
            </a:lvl3pPr>
            <a:lvl4pPr marL="1629254" indent="0">
              <a:buNone/>
              <a:defRPr sz="1693">
                <a:solidFill>
                  <a:schemeClr val="tx1">
                    <a:tint val="75000"/>
                  </a:schemeClr>
                </a:solidFill>
              </a:defRPr>
            </a:lvl4pPr>
            <a:lvl5pPr marL="2172339" indent="0">
              <a:buNone/>
              <a:defRPr sz="1693">
                <a:solidFill>
                  <a:schemeClr val="tx1">
                    <a:tint val="75000"/>
                  </a:schemeClr>
                </a:solidFill>
              </a:defRPr>
            </a:lvl5pPr>
            <a:lvl6pPr marL="2715423" indent="0">
              <a:buNone/>
              <a:defRPr sz="1693">
                <a:solidFill>
                  <a:schemeClr val="tx1">
                    <a:tint val="75000"/>
                  </a:schemeClr>
                </a:solidFill>
              </a:defRPr>
            </a:lvl6pPr>
            <a:lvl7pPr marL="3258508" indent="0">
              <a:buNone/>
              <a:defRPr sz="1693">
                <a:solidFill>
                  <a:schemeClr val="tx1">
                    <a:tint val="75000"/>
                  </a:schemeClr>
                </a:solidFill>
              </a:defRPr>
            </a:lvl7pPr>
            <a:lvl8pPr marL="3801593" indent="0">
              <a:buNone/>
              <a:defRPr sz="1693">
                <a:solidFill>
                  <a:schemeClr val="tx1">
                    <a:tint val="75000"/>
                  </a:schemeClr>
                </a:solidFill>
              </a:defRPr>
            </a:lvl8pPr>
            <a:lvl9pPr marL="4344677" indent="0">
              <a:buNone/>
              <a:defRPr sz="1693">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lvl1pPr>
              <a:defRPr sz="1600" b="1">
                <a:solidFill>
                  <a:schemeClr val="bg1"/>
                </a:solidFill>
              </a:defRPr>
            </a:lvl1pPr>
          </a:lstStyle>
          <a:p>
            <a:fld id="{4CDDF556-89C1-4EE0-AA95-90CFE6E234F8}" type="slidenum">
              <a:rPr lang="en-GB" smtClean="0"/>
              <a:t>‹#›</a:t>
            </a:fld>
            <a:endParaRPr lang="en-GB"/>
          </a:p>
        </p:txBody>
      </p:sp>
    </p:spTree>
    <p:extLst>
      <p:ext uri="{BB962C8B-B14F-4D97-AF65-F5344CB8AC3E}">
        <p14:creationId xmlns:p14="http://schemas.microsoft.com/office/powerpoint/2010/main" val="2091508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1" y="1606551"/>
            <a:ext cx="7217834" cy="4543425"/>
          </a:xfrm>
        </p:spPr>
        <p:txBody>
          <a:bodyPr/>
          <a:lstStyle>
            <a:lvl1pPr>
              <a:defRPr sz="3287"/>
            </a:lvl1pPr>
            <a:lvl2pPr>
              <a:defRPr sz="2889"/>
            </a:lvl2pPr>
            <a:lvl3pPr>
              <a:defRPr sz="2391"/>
            </a:lvl3pPr>
            <a:lvl4pPr>
              <a:defRPr sz="2092"/>
            </a:lvl4pPr>
            <a:lvl5pPr>
              <a:defRPr sz="2092"/>
            </a:lvl5pPr>
            <a:lvl6pPr>
              <a:defRPr sz="2092"/>
            </a:lvl6pPr>
            <a:lvl7pPr>
              <a:defRPr sz="2092"/>
            </a:lvl7pPr>
            <a:lvl8pPr>
              <a:defRPr sz="2092"/>
            </a:lvl8pPr>
            <a:lvl9pPr>
              <a:defRPr sz="209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233834" y="1606551"/>
            <a:ext cx="7217834" cy="4543425"/>
          </a:xfrm>
        </p:spPr>
        <p:txBody>
          <a:bodyPr/>
          <a:lstStyle>
            <a:lvl1pPr>
              <a:defRPr sz="3287"/>
            </a:lvl1pPr>
            <a:lvl2pPr>
              <a:defRPr sz="2889"/>
            </a:lvl2pPr>
            <a:lvl3pPr>
              <a:defRPr sz="2391"/>
            </a:lvl3pPr>
            <a:lvl4pPr>
              <a:defRPr sz="2092"/>
            </a:lvl4pPr>
            <a:lvl5pPr>
              <a:defRPr sz="2092"/>
            </a:lvl5pPr>
            <a:lvl6pPr>
              <a:defRPr sz="2092"/>
            </a:lvl6pPr>
            <a:lvl7pPr>
              <a:defRPr sz="2092"/>
            </a:lvl7pPr>
            <a:lvl8pPr>
              <a:defRPr sz="2092"/>
            </a:lvl8pPr>
            <a:lvl9pPr>
              <a:defRPr sz="209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lvl1pPr>
              <a:defRPr>
                <a:solidFill>
                  <a:schemeClr val="bg1"/>
                </a:solidFill>
              </a:defRPr>
            </a:lvl1pPr>
          </a:lstStyle>
          <a:p>
            <a:fld id="{4CDDF556-89C1-4EE0-AA95-90CFE6E234F8}" type="slidenum">
              <a:rPr lang="en-GB" smtClean="0"/>
              <a:t>‹#›</a:t>
            </a:fld>
            <a:endParaRPr lang="en-GB"/>
          </a:p>
        </p:txBody>
      </p:sp>
    </p:spTree>
    <p:extLst>
      <p:ext uri="{BB962C8B-B14F-4D97-AF65-F5344CB8AC3E}">
        <p14:creationId xmlns:p14="http://schemas.microsoft.com/office/powerpoint/2010/main" val="2823872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1" y="1535113"/>
            <a:ext cx="5386917" cy="639762"/>
          </a:xfrm>
        </p:spPr>
        <p:txBody>
          <a:bodyPr anchor="b"/>
          <a:lstStyle>
            <a:lvl1pPr marL="0" indent="0">
              <a:buNone/>
              <a:defRPr sz="2889" b="1"/>
            </a:lvl1pPr>
            <a:lvl2pPr marL="543085" indent="0">
              <a:buNone/>
              <a:defRPr sz="2391" b="1"/>
            </a:lvl2pPr>
            <a:lvl3pPr marL="1086169" indent="0">
              <a:buNone/>
              <a:defRPr sz="2092" b="1"/>
            </a:lvl3pPr>
            <a:lvl4pPr marL="1629254" indent="0">
              <a:buNone/>
              <a:defRPr sz="1893" b="1"/>
            </a:lvl4pPr>
            <a:lvl5pPr marL="2172339" indent="0">
              <a:buNone/>
              <a:defRPr sz="1893" b="1"/>
            </a:lvl5pPr>
            <a:lvl6pPr marL="2715423" indent="0">
              <a:buNone/>
              <a:defRPr sz="1893" b="1"/>
            </a:lvl6pPr>
            <a:lvl7pPr marL="3258508" indent="0">
              <a:buNone/>
              <a:defRPr sz="1893" b="1"/>
            </a:lvl7pPr>
            <a:lvl8pPr marL="3801593" indent="0">
              <a:buNone/>
              <a:defRPr sz="1893" b="1"/>
            </a:lvl8pPr>
            <a:lvl9pPr marL="4344677" indent="0">
              <a:buNone/>
              <a:defRPr sz="1893" b="1"/>
            </a:lvl9pPr>
          </a:lstStyle>
          <a:p>
            <a:pPr lvl="0"/>
            <a:r>
              <a:rPr lang="en-US"/>
              <a:t>Click to edit Master text styles</a:t>
            </a:r>
          </a:p>
        </p:txBody>
      </p:sp>
      <p:sp>
        <p:nvSpPr>
          <p:cNvPr id="4" name="Content Placeholder 3"/>
          <p:cNvSpPr>
            <a:spLocks noGrp="1"/>
          </p:cNvSpPr>
          <p:nvPr>
            <p:ph sz="half" idx="2"/>
          </p:nvPr>
        </p:nvSpPr>
        <p:spPr>
          <a:xfrm>
            <a:off x="609601" y="2174876"/>
            <a:ext cx="5386917" cy="3951288"/>
          </a:xfrm>
        </p:spPr>
        <p:txBody>
          <a:bodyPr/>
          <a:lstStyle>
            <a:lvl1pPr>
              <a:defRPr sz="2889"/>
            </a:lvl1pPr>
            <a:lvl2pPr>
              <a:defRPr sz="2391"/>
            </a:lvl2pPr>
            <a:lvl3pPr>
              <a:defRPr sz="2092"/>
            </a:lvl3pPr>
            <a:lvl4pPr>
              <a:defRPr sz="1893"/>
            </a:lvl4pPr>
            <a:lvl5pPr>
              <a:defRPr sz="1893"/>
            </a:lvl5pPr>
            <a:lvl6pPr>
              <a:defRPr sz="1893"/>
            </a:lvl6pPr>
            <a:lvl7pPr>
              <a:defRPr sz="1893"/>
            </a:lvl7pPr>
            <a:lvl8pPr>
              <a:defRPr sz="1893"/>
            </a:lvl8pPr>
            <a:lvl9pPr>
              <a:defRPr sz="189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7" y="1535113"/>
            <a:ext cx="5389033" cy="639762"/>
          </a:xfrm>
        </p:spPr>
        <p:txBody>
          <a:bodyPr anchor="b"/>
          <a:lstStyle>
            <a:lvl1pPr marL="0" indent="0">
              <a:buNone/>
              <a:defRPr sz="2889" b="1"/>
            </a:lvl1pPr>
            <a:lvl2pPr marL="543085" indent="0">
              <a:buNone/>
              <a:defRPr sz="2391" b="1"/>
            </a:lvl2pPr>
            <a:lvl3pPr marL="1086169" indent="0">
              <a:buNone/>
              <a:defRPr sz="2092" b="1"/>
            </a:lvl3pPr>
            <a:lvl4pPr marL="1629254" indent="0">
              <a:buNone/>
              <a:defRPr sz="1893" b="1"/>
            </a:lvl4pPr>
            <a:lvl5pPr marL="2172339" indent="0">
              <a:buNone/>
              <a:defRPr sz="1893" b="1"/>
            </a:lvl5pPr>
            <a:lvl6pPr marL="2715423" indent="0">
              <a:buNone/>
              <a:defRPr sz="1893" b="1"/>
            </a:lvl6pPr>
            <a:lvl7pPr marL="3258508" indent="0">
              <a:buNone/>
              <a:defRPr sz="1893" b="1"/>
            </a:lvl7pPr>
            <a:lvl8pPr marL="3801593" indent="0">
              <a:buNone/>
              <a:defRPr sz="1893" b="1"/>
            </a:lvl8pPr>
            <a:lvl9pPr marL="4344677" indent="0">
              <a:buNone/>
              <a:defRPr sz="1893" b="1"/>
            </a:lvl9pPr>
          </a:lstStyle>
          <a:p>
            <a:pPr lvl="0"/>
            <a:r>
              <a:rPr lang="en-US"/>
              <a:t>Click to edit Master text styles</a:t>
            </a:r>
          </a:p>
        </p:txBody>
      </p:sp>
      <p:sp>
        <p:nvSpPr>
          <p:cNvPr id="6" name="Content Placeholder 5"/>
          <p:cNvSpPr>
            <a:spLocks noGrp="1"/>
          </p:cNvSpPr>
          <p:nvPr>
            <p:ph sz="quarter" idx="4"/>
          </p:nvPr>
        </p:nvSpPr>
        <p:spPr>
          <a:xfrm>
            <a:off x="6193367" y="2174876"/>
            <a:ext cx="5389033" cy="3951288"/>
          </a:xfrm>
        </p:spPr>
        <p:txBody>
          <a:bodyPr/>
          <a:lstStyle>
            <a:lvl1pPr>
              <a:defRPr sz="2889"/>
            </a:lvl1pPr>
            <a:lvl2pPr>
              <a:defRPr sz="2391"/>
            </a:lvl2pPr>
            <a:lvl3pPr>
              <a:defRPr sz="2092"/>
            </a:lvl3pPr>
            <a:lvl4pPr>
              <a:defRPr sz="1893"/>
            </a:lvl4pPr>
            <a:lvl5pPr>
              <a:defRPr sz="1893"/>
            </a:lvl5pPr>
            <a:lvl6pPr>
              <a:defRPr sz="1893"/>
            </a:lvl6pPr>
            <a:lvl7pPr>
              <a:defRPr sz="1893"/>
            </a:lvl7pPr>
            <a:lvl8pPr>
              <a:defRPr sz="1893"/>
            </a:lvl8pPr>
            <a:lvl9pPr>
              <a:defRPr sz="189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A675BFF-DCF7-4952-8974-86D4E16760B8}" type="datetimeFigureOut">
              <a:rPr lang="en-GB" smtClean="0"/>
              <a:t>03/01/2025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CDDF556-89C1-4EE0-AA95-90CFE6E234F8}" type="slidenum">
              <a:rPr lang="en-GB" smtClean="0"/>
              <a:t>‹#›</a:t>
            </a:fld>
            <a:endParaRPr lang="en-GB"/>
          </a:p>
        </p:txBody>
      </p:sp>
    </p:spTree>
    <p:extLst>
      <p:ext uri="{BB962C8B-B14F-4D97-AF65-F5344CB8AC3E}">
        <p14:creationId xmlns:p14="http://schemas.microsoft.com/office/powerpoint/2010/main" val="1610778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A675BFF-DCF7-4952-8974-86D4E16760B8}" type="datetimeFigureOut">
              <a:rPr lang="en-GB" smtClean="0"/>
              <a:t>03/01/2025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CDDF556-89C1-4EE0-AA95-90CFE6E234F8}" type="slidenum">
              <a:rPr lang="en-GB" smtClean="0"/>
              <a:t>‹#›</a:t>
            </a:fld>
            <a:endParaRPr lang="en-GB"/>
          </a:p>
        </p:txBody>
      </p:sp>
    </p:spTree>
    <p:extLst>
      <p:ext uri="{BB962C8B-B14F-4D97-AF65-F5344CB8AC3E}">
        <p14:creationId xmlns:p14="http://schemas.microsoft.com/office/powerpoint/2010/main" val="2054236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675BFF-DCF7-4952-8974-86D4E16760B8}" type="datetimeFigureOut">
              <a:rPr lang="en-GB" smtClean="0"/>
              <a:t>03/01/2025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CDDF556-89C1-4EE0-AA95-90CFE6E234F8}" type="slidenum">
              <a:rPr lang="en-GB" smtClean="0"/>
              <a:t>‹#›</a:t>
            </a:fld>
            <a:endParaRPr lang="en-GB"/>
          </a:p>
        </p:txBody>
      </p:sp>
    </p:spTree>
    <p:extLst>
      <p:ext uri="{BB962C8B-B14F-4D97-AF65-F5344CB8AC3E}">
        <p14:creationId xmlns:p14="http://schemas.microsoft.com/office/powerpoint/2010/main" val="2021364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1"/>
            <a:ext cx="4011084" cy="1162050"/>
          </a:xfrm>
        </p:spPr>
        <p:txBody>
          <a:bodyPr anchor="b"/>
          <a:lstStyle>
            <a:lvl1pPr algn="l">
              <a:defRPr sz="2391" b="1"/>
            </a:lvl1pPr>
          </a:lstStyle>
          <a:p>
            <a:r>
              <a:rPr lang="en-US"/>
              <a:t>Click to edit Master title style</a:t>
            </a:r>
          </a:p>
        </p:txBody>
      </p:sp>
      <p:sp>
        <p:nvSpPr>
          <p:cNvPr id="3" name="Content Placeholder 2"/>
          <p:cNvSpPr>
            <a:spLocks noGrp="1"/>
          </p:cNvSpPr>
          <p:nvPr>
            <p:ph idx="1"/>
          </p:nvPr>
        </p:nvSpPr>
        <p:spPr>
          <a:xfrm>
            <a:off x="4766733" y="273051"/>
            <a:ext cx="6815666" cy="5853113"/>
          </a:xfrm>
        </p:spPr>
        <p:txBody>
          <a:bodyPr/>
          <a:lstStyle>
            <a:lvl1pPr>
              <a:defRPr sz="3785"/>
            </a:lvl1pPr>
            <a:lvl2pPr>
              <a:defRPr sz="3287"/>
            </a:lvl2pPr>
            <a:lvl3pPr>
              <a:defRPr sz="2889"/>
            </a:lvl3pPr>
            <a:lvl4pPr>
              <a:defRPr sz="2391"/>
            </a:lvl4pPr>
            <a:lvl5pPr>
              <a:defRPr sz="2391"/>
            </a:lvl5pPr>
            <a:lvl6pPr>
              <a:defRPr sz="2391"/>
            </a:lvl6pPr>
            <a:lvl7pPr>
              <a:defRPr sz="2391"/>
            </a:lvl7pPr>
            <a:lvl8pPr>
              <a:defRPr sz="2391"/>
            </a:lvl8pPr>
            <a:lvl9pPr>
              <a:defRPr sz="239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693"/>
            </a:lvl1pPr>
            <a:lvl2pPr marL="543085" indent="0">
              <a:buNone/>
              <a:defRPr sz="1395"/>
            </a:lvl2pPr>
            <a:lvl3pPr marL="1086169" indent="0">
              <a:buNone/>
              <a:defRPr sz="1195"/>
            </a:lvl3pPr>
            <a:lvl4pPr marL="1629254" indent="0">
              <a:buNone/>
              <a:defRPr sz="1096"/>
            </a:lvl4pPr>
            <a:lvl5pPr marL="2172339" indent="0">
              <a:buNone/>
              <a:defRPr sz="1096"/>
            </a:lvl5pPr>
            <a:lvl6pPr marL="2715423" indent="0">
              <a:buNone/>
              <a:defRPr sz="1096"/>
            </a:lvl6pPr>
            <a:lvl7pPr marL="3258508" indent="0">
              <a:buNone/>
              <a:defRPr sz="1096"/>
            </a:lvl7pPr>
            <a:lvl8pPr marL="3801593" indent="0">
              <a:buNone/>
              <a:defRPr sz="1096"/>
            </a:lvl8pPr>
            <a:lvl9pPr marL="4344677" indent="0">
              <a:buNone/>
              <a:defRPr sz="1096"/>
            </a:lvl9pPr>
          </a:lstStyle>
          <a:p>
            <a:pPr lvl="0"/>
            <a:r>
              <a:rPr lang="en-US"/>
              <a:t>Click to edit Master text styles</a:t>
            </a:r>
          </a:p>
        </p:txBody>
      </p:sp>
      <p:sp>
        <p:nvSpPr>
          <p:cNvPr id="5" name="Date Placeholder 4"/>
          <p:cNvSpPr>
            <a:spLocks noGrp="1"/>
          </p:cNvSpPr>
          <p:nvPr>
            <p:ph type="dt" sz="half" idx="10"/>
          </p:nvPr>
        </p:nvSpPr>
        <p:spPr/>
        <p:txBody>
          <a:bodyPr/>
          <a:lstStyle/>
          <a:p>
            <a:fld id="{7A675BFF-DCF7-4952-8974-86D4E16760B8}" type="datetimeFigureOut">
              <a:rPr lang="en-GB" smtClean="0"/>
              <a:t>03/01/2025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CDDF556-89C1-4EE0-AA95-90CFE6E234F8}" type="slidenum">
              <a:rPr lang="en-GB" smtClean="0"/>
              <a:t>‹#›</a:t>
            </a:fld>
            <a:endParaRPr lang="en-GB"/>
          </a:p>
        </p:txBody>
      </p:sp>
    </p:spTree>
    <p:extLst>
      <p:ext uri="{BB962C8B-B14F-4D97-AF65-F5344CB8AC3E}">
        <p14:creationId xmlns:p14="http://schemas.microsoft.com/office/powerpoint/2010/main" val="2611820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391"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785"/>
            </a:lvl1pPr>
            <a:lvl2pPr marL="543085" indent="0">
              <a:buNone/>
              <a:defRPr sz="3287"/>
            </a:lvl2pPr>
            <a:lvl3pPr marL="1086169" indent="0">
              <a:buNone/>
              <a:defRPr sz="2889"/>
            </a:lvl3pPr>
            <a:lvl4pPr marL="1629254" indent="0">
              <a:buNone/>
              <a:defRPr sz="2391"/>
            </a:lvl4pPr>
            <a:lvl5pPr marL="2172339" indent="0">
              <a:buNone/>
              <a:defRPr sz="2391"/>
            </a:lvl5pPr>
            <a:lvl6pPr marL="2715423" indent="0">
              <a:buNone/>
              <a:defRPr sz="2391"/>
            </a:lvl6pPr>
            <a:lvl7pPr marL="3258508" indent="0">
              <a:buNone/>
              <a:defRPr sz="2391"/>
            </a:lvl7pPr>
            <a:lvl8pPr marL="3801593" indent="0">
              <a:buNone/>
              <a:defRPr sz="2391"/>
            </a:lvl8pPr>
            <a:lvl9pPr marL="4344677" indent="0">
              <a:buNone/>
              <a:defRPr sz="2391"/>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693"/>
            </a:lvl1pPr>
            <a:lvl2pPr marL="543085" indent="0">
              <a:buNone/>
              <a:defRPr sz="1395"/>
            </a:lvl2pPr>
            <a:lvl3pPr marL="1086169" indent="0">
              <a:buNone/>
              <a:defRPr sz="1195"/>
            </a:lvl3pPr>
            <a:lvl4pPr marL="1629254" indent="0">
              <a:buNone/>
              <a:defRPr sz="1096"/>
            </a:lvl4pPr>
            <a:lvl5pPr marL="2172339" indent="0">
              <a:buNone/>
              <a:defRPr sz="1096"/>
            </a:lvl5pPr>
            <a:lvl6pPr marL="2715423" indent="0">
              <a:buNone/>
              <a:defRPr sz="1096"/>
            </a:lvl6pPr>
            <a:lvl7pPr marL="3258508" indent="0">
              <a:buNone/>
              <a:defRPr sz="1096"/>
            </a:lvl7pPr>
            <a:lvl8pPr marL="3801593" indent="0">
              <a:buNone/>
              <a:defRPr sz="1096"/>
            </a:lvl8pPr>
            <a:lvl9pPr marL="4344677" indent="0">
              <a:buNone/>
              <a:defRPr sz="1096"/>
            </a:lvl9pPr>
          </a:lstStyle>
          <a:p>
            <a:pPr lvl="0"/>
            <a:r>
              <a:rPr lang="en-US"/>
              <a:t>Click to edit Master text styles</a:t>
            </a:r>
          </a:p>
        </p:txBody>
      </p:sp>
      <p:sp>
        <p:nvSpPr>
          <p:cNvPr id="5" name="Date Placeholder 4"/>
          <p:cNvSpPr>
            <a:spLocks noGrp="1"/>
          </p:cNvSpPr>
          <p:nvPr>
            <p:ph type="dt" sz="half" idx="10"/>
          </p:nvPr>
        </p:nvSpPr>
        <p:spPr/>
        <p:txBody>
          <a:bodyPr/>
          <a:lstStyle/>
          <a:p>
            <a:fld id="{7A675BFF-DCF7-4952-8974-86D4E16760B8}" type="datetimeFigureOut">
              <a:rPr lang="en-GB" smtClean="0"/>
              <a:t>03/01/2025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CDDF556-89C1-4EE0-AA95-90CFE6E234F8}" type="slidenum">
              <a:rPr lang="en-GB" smtClean="0"/>
              <a:t>‹#›</a:t>
            </a:fld>
            <a:endParaRPr lang="en-GB"/>
          </a:p>
        </p:txBody>
      </p:sp>
    </p:spTree>
    <p:extLst>
      <p:ext uri="{BB962C8B-B14F-4D97-AF65-F5344CB8AC3E}">
        <p14:creationId xmlns:p14="http://schemas.microsoft.com/office/powerpoint/2010/main" val="2284400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675BFF-DCF7-4952-8974-86D4E16760B8}" type="datetimeFigureOut">
              <a:rPr lang="en-GB" smtClean="0"/>
              <a:t>03/01/2025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CDDF556-89C1-4EE0-AA95-90CFE6E234F8}" type="slidenum">
              <a:rPr lang="en-GB" smtClean="0"/>
              <a:t>‹#›</a:t>
            </a:fld>
            <a:endParaRPr lang="en-GB"/>
          </a:p>
        </p:txBody>
      </p:sp>
    </p:spTree>
    <p:extLst>
      <p:ext uri="{BB962C8B-B14F-4D97-AF65-F5344CB8AC3E}">
        <p14:creationId xmlns:p14="http://schemas.microsoft.com/office/powerpoint/2010/main" val="150835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91951" y="276226"/>
            <a:ext cx="3659716" cy="5873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1" y="276226"/>
            <a:ext cx="10775951" cy="5873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675BFF-DCF7-4952-8974-86D4E16760B8}" type="datetimeFigureOut">
              <a:rPr lang="en-GB" smtClean="0"/>
              <a:t>03/01/2025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CDDF556-89C1-4EE0-AA95-90CFE6E234F8}" type="slidenum">
              <a:rPr lang="en-GB" smtClean="0"/>
              <a:t>‹#›</a:t>
            </a:fld>
            <a:endParaRPr lang="en-GB"/>
          </a:p>
        </p:txBody>
      </p:sp>
    </p:spTree>
    <p:extLst>
      <p:ext uri="{BB962C8B-B14F-4D97-AF65-F5344CB8AC3E}">
        <p14:creationId xmlns:p14="http://schemas.microsoft.com/office/powerpoint/2010/main" val="598266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7864C-F912-0F65-9378-045C0D4D79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9F3CD08-CD72-E8F0-759C-7228A552AA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067120A-AF8E-E272-A5EA-17E3730A7B4E}"/>
              </a:ext>
            </a:extLst>
          </p:cNvPr>
          <p:cNvSpPr>
            <a:spLocks noGrp="1"/>
          </p:cNvSpPr>
          <p:nvPr>
            <p:ph type="dt" sz="half" idx="10"/>
          </p:nvPr>
        </p:nvSpPr>
        <p:spPr/>
        <p:txBody>
          <a:bodyPr/>
          <a:lstStyle/>
          <a:p>
            <a:fld id="{7A675BFF-DCF7-4952-8974-86D4E16760B8}" type="datetimeFigureOut">
              <a:rPr lang="en-GB" smtClean="0"/>
              <a:t>03/01/2025</a:t>
            </a:fld>
            <a:endParaRPr lang="en-GB"/>
          </a:p>
        </p:txBody>
      </p:sp>
      <p:sp>
        <p:nvSpPr>
          <p:cNvPr id="5" name="Footer Placeholder 4">
            <a:extLst>
              <a:ext uri="{FF2B5EF4-FFF2-40B4-BE49-F238E27FC236}">
                <a16:creationId xmlns:a16="http://schemas.microsoft.com/office/drawing/2014/main" id="{05B32EF5-86D1-38E3-52EC-C843DD18E37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B9BE545-647A-1C55-5A9C-E1849BE2A075}"/>
              </a:ext>
            </a:extLst>
          </p:cNvPr>
          <p:cNvSpPr>
            <a:spLocks noGrp="1"/>
          </p:cNvSpPr>
          <p:nvPr>
            <p:ph type="sldNum" sz="quarter" idx="12"/>
          </p:nvPr>
        </p:nvSpPr>
        <p:spPr/>
        <p:txBody>
          <a:bodyPr/>
          <a:lstStyle/>
          <a:p>
            <a:fld id="{4CDDF556-89C1-4EE0-AA95-90CFE6E234F8}" type="slidenum">
              <a:rPr lang="en-GB" smtClean="0"/>
              <a:t>‹#›</a:t>
            </a:fld>
            <a:endParaRPr lang="en-GB"/>
          </a:p>
        </p:txBody>
      </p:sp>
    </p:spTree>
    <p:extLst>
      <p:ext uri="{BB962C8B-B14F-4D97-AF65-F5344CB8AC3E}">
        <p14:creationId xmlns:p14="http://schemas.microsoft.com/office/powerpoint/2010/main" val="8895361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1" y="274638"/>
            <a:ext cx="10972800" cy="1143000"/>
          </a:xfrm>
          <a:prstGeom prst="rect">
            <a:avLst/>
          </a:prstGeom>
        </p:spPr>
        <p:txBody>
          <a:bodyPr vert="horz" lIns="109042" tIns="54521" rIns="109042" bIns="54521" rtlCol="0" anchor="ctr">
            <a:normAutofit/>
          </a:bodyPr>
          <a:lstStyle/>
          <a:p>
            <a:r>
              <a:rPr lang="en-US"/>
              <a:t>Click to edit Master title style</a:t>
            </a:r>
          </a:p>
        </p:txBody>
      </p:sp>
      <p:sp>
        <p:nvSpPr>
          <p:cNvPr id="3" name="Text Placeholder 2"/>
          <p:cNvSpPr>
            <a:spLocks noGrp="1"/>
          </p:cNvSpPr>
          <p:nvPr>
            <p:ph type="body" idx="1"/>
          </p:nvPr>
        </p:nvSpPr>
        <p:spPr>
          <a:xfrm>
            <a:off x="609601" y="1600201"/>
            <a:ext cx="10972800" cy="4525963"/>
          </a:xfrm>
          <a:prstGeom prst="rect">
            <a:avLst/>
          </a:prstGeom>
        </p:spPr>
        <p:txBody>
          <a:bodyPr vert="horz" lIns="109042" tIns="54521" rIns="109042" bIns="5452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0"/>
            <a:ext cx="2844800" cy="365125"/>
          </a:xfrm>
          <a:prstGeom prst="rect">
            <a:avLst/>
          </a:prstGeom>
        </p:spPr>
        <p:txBody>
          <a:bodyPr vert="horz" lIns="109042" tIns="54521" rIns="109042" bIns="54521" rtlCol="0" anchor="ctr"/>
          <a:lstStyle>
            <a:lvl1pPr algn="l">
              <a:defRPr sz="1395">
                <a:solidFill>
                  <a:schemeClr val="tx1">
                    <a:tint val="75000"/>
                  </a:schemeClr>
                </a:solidFill>
              </a:defRPr>
            </a:lvl1pPr>
          </a:lstStyle>
          <a:p>
            <a:fld id="{7A675BFF-DCF7-4952-8974-86D4E16760B8}" type="datetimeFigureOut">
              <a:rPr lang="en-GB" smtClean="0"/>
              <a:t>03/01/2025</a:t>
            </a:fld>
            <a:endParaRPr lang="en-GB"/>
          </a:p>
        </p:txBody>
      </p:sp>
      <p:sp>
        <p:nvSpPr>
          <p:cNvPr id="5" name="Footer Placeholder 4"/>
          <p:cNvSpPr>
            <a:spLocks noGrp="1"/>
          </p:cNvSpPr>
          <p:nvPr>
            <p:ph type="ftr" sz="quarter" idx="3"/>
          </p:nvPr>
        </p:nvSpPr>
        <p:spPr>
          <a:xfrm>
            <a:off x="4165601" y="6356350"/>
            <a:ext cx="3860800" cy="365125"/>
          </a:xfrm>
          <a:prstGeom prst="rect">
            <a:avLst/>
          </a:prstGeom>
        </p:spPr>
        <p:txBody>
          <a:bodyPr vert="horz" lIns="109042" tIns="54521" rIns="109042" bIns="54521" rtlCol="0" anchor="ctr"/>
          <a:lstStyle>
            <a:lvl1pPr algn="ctr">
              <a:defRPr sz="1395">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109042" tIns="54521" rIns="109042" bIns="54521" rtlCol="0" anchor="ctr"/>
          <a:lstStyle>
            <a:lvl1pPr algn="r">
              <a:defRPr sz="1395">
                <a:solidFill>
                  <a:schemeClr val="tx1">
                    <a:tint val="75000"/>
                  </a:schemeClr>
                </a:solidFill>
              </a:defRPr>
            </a:lvl1pPr>
          </a:lstStyle>
          <a:p>
            <a:fld id="{4CDDF556-89C1-4EE0-AA95-90CFE6E234F8}" type="slidenum">
              <a:rPr lang="en-GB" smtClean="0"/>
              <a:t>‹#›</a:t>
            </a:fld>
            <a:endParaRPr lang="en-GB"/>
          </a:p>
        </p:txBody>
      </p:sp>
      <p:pic>
        <p:nvPicPr>
          <p:cNvPr id="7" name="Picture 6">
            <a:extLst>
              <a:ext uri="{FF2B5EF4-FFF2-40B4-BE49-F238E27FC236}">
                <a16:creationId xmlns:a16="http://schemas.microsoft.com/office/drawing/2014/main" id="{283847CC-E973-5B7C-9AAC-D19CC647AF59}"/>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5943" y="6170888"/>
            <a:ext cx="12192407" cy="707389"/>
          </a:xfrm>
          <a:prstGeom prst="rect">
            <a:avLst/>
          </a:prstGeom>
        </p:spPr>
      </p:pic>
    </p:spTree>
    <p:extLst>
      <p:ext uri="{BB962C8B-B14F-4D97-AF65-F5344CB8AC3E}">
        <p14:creationId xmlns:p14="http://schemas.microsoft.com/office/powerpoint/2010/main" val="6576219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543085" rtl="0" eaLnBrk="1" latinLnBrk="0" hangingPunct="1">
        <a:spcBef>
          <a:spcPct val="0"/>
        </a:spcBef>
        <a:buNone/>
        <a:defRPr sz="5180" kern="1200">
          <a:solidFill>
            <a:schemeClr val="tx1"/>
          </a:solidFill>
          <a:latin typeface="+mj-lt"/>
          <a:ea typeface="+mj-ea"/>
          <a:cs typeface="+mj-cs"/>
        </a:defRPr>
      </a:lvl1pPr>
    </p:titleStyle>
    <p:bodyStyle>
      <a:lvl1pPr marL="407313" indent="-407313" algn="l" defTabSz="543085" rtl="0" eaLnBrk="1" latinLnBrk="0" hangingPunct="1">
        <a:spcBef>
          <a:spcPct val="20000"/>
        </a:spcBef>
        <a:buFont typeface="Arial"/>
        <a:buChar char="•"/>
        <a:defRPr sz="3785" kern="1200">
          <a:solidFill>
            <a:schemeClr val="tx1"/>
          </a:solidFill>
          <a:latin typeface="+mn-lt"/>
          <a:ea typeface="+mn-ea"/>
          <a:cs typeface="+mn-cs"/>
        </a:defRPr>
      </a:lvl1pPr>
      <a:lvl2pPr marL="882513" indent="-339428" algn="l" defTabSz="543085" rtl="0" eaLnBrk="1" latinLnBrk="0" hangingPunct="1">
        <a:spcBef>
          <a:spcPct val="20000"/>
        </a:spcBef>
        <a:buFont typeface="Arial"/>
        <a:buChar char="–"/>
        <a:defRPr sz="3287" kern="1200">
          <a:solidFill>
            <a:schemeClr val="tx1"/>
          </a:solidFill>
          <a:latin typeface="+mn-lt"/>
          <a:ea typeface="+mn-ea"/>
          <a:cs typeface="+mn-cs"/>
        </a:defRPr>
      </a:lvl2pPr>
      <a:lvl3pPr marL="1357712" indent="-271543" algn="l" defTabSz="543085" rtl="0" eaLnBrk="1" latinLnBrk="0" hangingPunct="1">
        <a:spcBef>
          <a:spcPct val="20000"/>
        </a:spcBef>
        <a:buFont typeface="Arial"/>
        <a:buChar char="•"/>
        <a:defRPr sz="2889" kern="1200">
          <a:solidFill>
            <a:schemeClr val="tx1"/>
          </a:solidFill>
          <a:latin typeface="+mn-lt"/>
          <a:ea typeface="+mn-ea"/>
          <a:cs typeface="+mn-cs"/>
        </a:defRPr>
      </a:lvl3pPr>
      <a:lvl4pPr marL="1900797" indent="-271543" algn="l" defTabSz="543085" rtl="0" eaLnBrk="1" latinLnBrk="0" hangingPunct="1">
        <a:spcBef>
          <a:spcPct val="20000"/>
        </a:spcBef>
        <a:buFont typeface="Arial"/>
        <a:buChar char="–"/>
        <a:defRPr sz="2391" kern="1200">
          <a:solidFill>
            <a:schemeClr val="tx1"/>
          </a:solidFill>
          <a:latin typeface="+mn-lt"/>
          <a:ea typeface="+mn-ea"/>
          <a:cs typeface="+mn-cs"/>
        </a:defRPr>
      </a:lvl4pPr>
      <a:lvl5pPr marL="2443882" indent="-271543" algn="l" defTabSz="543085" rtl="0" eaLnBrk="1" latinLnBrk="0" hangingPunct="1">
        <a:spcBef>
          <a:spcPct val="20000"/>
        </a:spcBef>
        <a:buFont typeface="Arial"/>
        <a:buChar char="»"/>
        <a:defRPr sz="2391" kern="1200">
          <a:solidFill>
            <a:schemeClr val="tx1"/>
          </a:solidFill>
          <a:latin typeface="+mn-lt"/>
          <a:ea typeface="+mn-ea"/>
          <a:cs typeface="+mn-cs"/>
        </a:defRPr>
      </a:lvl5pPr>
      <a:lvl6pPr marL="2986966" indent="-271543" algn="l" defTabSz="543085" rtl="0" eaLnBrk="1" latinLnBrk="0" hangingPunct="1">
        <a:spcBef>
          <a:spcPct val="20000"/>
        </a:spcBef>
        <a:buFont typeface="Arial"/>
        <a:buChar char="•"/>
        <a:defRPr sz="2391" kern="1200">
          <a:solidFill>
            <a:schemeClr val="tx1"/>
          </a:solidFill>
          <a:latin typeface="+mn-lt"/>
          <a:ea typeface="+mn-ea"/>
          <a:cs typeface="+mn-cs"/>
        </a:defRPr>
      </a:lvl6pPr>
      <a:lvl7pPr marL="3530051" indent="-271543" algn="l" defTabSz="543085" rtl="0" eaLnBrk="1" latinLnBrk="0" hangingPunct="1">
        <a:spcBef>
          <a:spcPct val="20000"/>
        </a:spcBef>
        <a:buFont typeface="Arial"/>
        <a:buChar char="•"/>
        <a:defRPr sz="2391" kern="1200">
          <a:solidFill>
            <a:schemeClr val="tx1"/>
          </a:solidFill>
          <a:latin typeface="+mn-lt"/>
          <a:ea typeface="+mn-ea"/>
          <a:cs typeface="+mn-cs"/>
        </a:defRPr>
      </a:lvl7pPr>
      <a:lvl8pPr marL="4073136" indent="-271543" algn="l" defTabSz="543085" rtl="0" eaLnBrk="1" latinLnBrk="0" hangingPunct="1">
        <a:spcBef>
          <a:spcPct val="20000"/>
        </a:spcBef>
        <a:buFont typeface="Arial"/>
        <a:buChar char="•"/>
        <a:defRPr sz="2391" kern="1200">
          <a:solidFill>
            <a:schemeClr val="tx1"/>
          </a:solidFill>
          <a:latin typeface="+mn-lt"/>
          <a:ea typeface="+mn-ea"/>
          <a:cs typeface="+mn-cs"/>
        </a:defRPr>
      </a:lvl8pPr>
      <a:lvl9pPr marL="4616220" indent="-271543" algn="l" defTabSz="543085" rtl="0" eaLnBrk="1" latinLnBrk="0" hangingPunct="1">
        <a:spcBef>
          <a:spcPct val="20000"/>
        </a:spcBef>
        <a:buFont typeface="Arial"/>
        <a:buChar char="•"/>
        <a:defRPr sz="2391" kern="1200">
          <a:solidFill>
            <a:schemeClr val="tx1"/>
          </a:solidFill>
          <a:latin typeface="+mn-lt"/>
          <a:ea typeface="+mn-ea"/>
          <a:cs typeface="+mn-cs"/>
        </a:defRPr>
      </a:lvl9pPr>
    </p:bodyStyle>
    <p:otherStyle>
      <a:defPPr>
        <a:defRPr lang="en-US"/>
      </a:defPPr>
      <a:lvl1pPr marL="0" algn="l" defTabSz="543085" rtl="0" eaLnBrk="1" latinLnBrk="0" hangingPunct="1">
        <a:defRPr sz="2092" kern="1200">
          <a:solidFill>
            <a:schemeClr val="tx1"/>
          </a:solidFill>
          <a:latin typeface="+mn-lt"/>
          <a:ea typeface="+mn-ea"/>
          <a:cs typeface="+mn-cs"/>
        </a:defRPr>
      </a:lvl1pPr>
      <a:lvl2pPr marL="543085" algn="l" defTabSz="543085" rtl="0" eaLnBrk="1" latinLnBrk="0" hangingPunct="1">
        <a:defRPr sz="2092" kern="1200">
          <a:solidFill>
            <a:schemeClr val="tx1"/>
          </a:solidFill>
          <a:latin typeface="+mn-lt"/>
          <a:ea typeface="+mn-ea"/>
          <a:cs typeface="+mn-cs"/>
        </a:defRPr>
      </a:lvl2pPr>
      <a:lvl3pPr marL="1086169" algn="l" defTabSz="543085" rtl="0" eaLnBrk="1" latinLnBrk="0" hangingPunct="1">
        <a:defRPr sz="2092" kern="1200">
          <a:solidFill>
            <a:schemeClr val="tx1"/>
          </a:solidFill>
          <a:latin typeface="+mn-lt"/>
          <a:ea typeface="+mn-ea"/>
          <a:cs typeface="+mn-cs"/>
        </a:defRPr>
      </a:lvl3pPr>
      <a:lvl4pPr marL="1629254" algn="l" defTabSz="543085" rtl="0" eaLnBrk="1" latinLnBrk="0" hangingPunct="1">
        <a:defRPr sz="2092" kern="1200">
          <a:solidFill>
            <a:schemeClr val="tx1"/>
          </a:solidFill>
          <a:latin typeface="+mn-lt"/>
          <a:ea typeface="+mn-ea"/>
          <a:cs typeface="+mn-cs"/>
        </a:defRPr>
      </a:lvl4pPr>
      <a:lvl5pPr marL="2172339" algn="l" defTabSz="543085" rtl="0" eaLnBrk="1" latinLnBrk="0" hangingPunct="1">
        <a:defRPr sz="2092" kern="1200">
          <a:solidFill>
            <a:schemeClr val="tx1"/>
          </a:solidFill>
          <a:latin typeface="+mn-lt"/>
          <a:ea typeface="+mn-ea"/>
          <a:cs typeface="+mn-cs"/>
        </a:defRPr>
      </a:lvl5pPr>
      <a:lvl6pPr marL="2715423" algn="l" defTabSz="543085" rtl="0" eaLnBrk="1" latinLnBrk="0" hangingPunct="1">
        <a:defRPr sz="2092" kern="1200">
          <a:solidFill>
            <a:schemeClr val="tx1"/>
          </a:solidFill>
          <a:latin typeface="+mn-lt"/>
          <a:ea typeface="+mn-ea"/>
          <a:cs typeface="+mn-cs"/>
        </a:defRPr>
      </a:lvl6pPr>
      <a:lvl7pPr marL="3258508" algn="l" defTabSz="543085" rtl="0" eaLnBrk="1" latinLnBrk="0" hangingPunct="1">
        <a:defRPr sz="2092" kern="1200">
          <a:solidFill>
            <a:schemeClr val="tx1"/>
          </a:solidFill>
          <a:latin typeface="+mn-lt"/>
          <a:ea typeface="+mn-ea"/>
          <a:cs typeface="+mn-cs"/>
        </a:defRPr>
      </a:lvl7pPr>
      <a:lvl8pPr marL="3801593" algn="l" defTabSz="543085" rtl="0" eaLnBrk="1" latinLnBrk="0" hangingPunct="1">
        <a:defRPr sz="2092" kern="1200">
          <a:solidFill>
            <a:schemeClr val="tx1"/>
          </a:solidFill>
          <a:latin typeface="+mn-lt"/>
          <a:ea typeface="+mn-ea"/>
          <a:cs typeface="+mn-cs"/>
        </a:defRPr>
      </a:lvl8pPr>
      <a:lvl9pPr marL="4344677" algn="l" defTabSz="543085" rtl="0" eaLnBrk="1" latinLnBrk="0" hangingPunct="1">
        <a:defRPr sz="209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mailto:awambua@daystar.ac.ke" TargetMode="Externa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tKuHEBX9aMQ" TargetMode="External"/><Relationship Id="rId2" Type="http://schemas.openxmlformats.org/officeDocument/2006/relationships/hyperlink" Target="https://youtu.be/fq4N0hgOWzU?si=UE0gIPJdjreYt1Y5" TargetMode="External"/><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ereader.perlego.com/1/book/4165683/105"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F0AA7-3585-0EBD-A7B5-9D47168D484F}"/>
              </a:ext>
            </a:extLst>
          </p:cNvPr>
          <p:cNvSpPr>
            <a:spLocks noGrp="1"/>
          </p:cNvSpPr>
          <p:nvPr>
            <p:ph type="ctrTitle"/>
          </p:nvPr>
        </p:nvSpPr>
        <p:spPr>
          <a:xfrm>
            <a:off x="1524000" y="2040460"/>
            <a:ext cx="9144000" cy="2387600"/>
          </a:xfrm>
        </p:spPr>
        <p:txBody>
          <a:bodyPr>
            <a:normAutofit fontScale="90000"/>
          </a:bodyPr>
          <a:lstStyle/>
          <a:p>
            <a:r>
              <a:rPr lang="en-US" dirty="0"/>
              <a:t>ACS314 </a:t>
            </a:r>
            <a:br>
              <a:rPr lang="en-US" dirty="0"/>
            </a:br>
            <a:r>
              <a:rPr lang="en-US" dirty="0"/>
              <a:t>MOBILE APPLICATION DEVELOPMENT</a:t>
            </a:r>
            <a:endParaRPr lang="en-GB" dirty="0"/>
          </a:p>
        </p:txBody>
      </p:sp>
      <p:sp>
        <p:nvSpPr>
          <p:cNvPr id="3" name="Subtitle 2">
            <a:extLst>
              <a:ext uri="{FF2B5EF4-FFF2-40B4-BE49-F238E27FC236}">
                <a16:creationId xmlns:a16="http://schemas.microsoft.com/office/drawing/2014/main" id="{D7206019-7423-B51B-67F8-DE67A4F2554F}"/>
              </a:ext>
            </a:extLst>
          </p:cNvPr>
          <p:cNvSpPr>
            <a:spLocks noGrp="1"/>
          </p:cNvSpPr>
          <p:nvPr>
            <p:ph type="subTitle" idx="1"/>
          </p:nvPr>
        </p:nvSpPr>
        <p:spPr>
          <a:xfrm>
            <a:off x="1524000" y="4428060"/>
            <a:ext cx="9144000" cy="1655762"/>
          </a:xfrm>
        </p:spPr>
        <p:txBody>
          <a:bodyPr>
            <a:normAutofit lnSpcReduction="10000"/>
          </a:bodyPr>
          <a:lstStyle/>
          <a:p>
            <a:r>
              <a:rPr lang="en-US" dirty="0"/>
              <a:t>LESSON 1</a:t>
            </a:r>
          </a:p>
          <a:p>
            <a:r>
              <a:rPr lang="en-US" dirty="0"/>
              <a:t>MR ANTHONY WAMBUA</a:t>
            </a:r>
          </a:p>
          <a:p>
            <a:r>
              <a:rPr lang="en-US" dirty="0">
                <a:hlinkClick r:id="rId2"/>
              </a:rPr>
              <a:t>awambua@daystar.ac.ke</a:t>
            </a:r>
            <a:r>
              <a:rPr lang="en-US" dirty="0"/>
              <a:t> </a:t>
            </a:r>
          </a:p>
          <a:p>
            <a:r>
              <a:rPr lang="en-US" dirty="0"/>
              <a:t>+254721589325</a:t>
            </a:r>
            <a:endParaRPr lang="en-GB" dirty="0"/>
          </a:p>
        </p:txBody>
      </p:sp>
      <p:pic>
        <p:nvPicPr>
          <p:cNvPr id="5" name="Picture 4" descr="A blue text on a black background&#10;&#10;Description automatically generated">
            <a:extLst>
              <a:ext uri="{FF2B5EF4-FFF2-40B4-BE49-F238E27FC236}">
                <a16:creationId xmlns:a16="http://schemas.microsoft.com/office/drawing/2014/main" id="{6E1A53E0-BFF4-1263-E095-2C9C7F04A5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8575" y="-179747"/>
            <a:ext cx="4934849" cy="2220207"/>
          </a:xfrm>
          <a:prstGeom prst="rect">
            <a:avLst/>
          </a:prstGeom>
        </p:spPr>
      </p:pic>
    </p:spTree>
    <p:extLst>
      <p:ext uri="{BB962C8B-B14F-4D97-AF65-F5344CB8AC3E}">
        <p14:creationId xmlns:p14="http://schemas.microsoft.com/office/powerpoint/2010/main" val="863717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F2EC2-657B-9B51-1D64-29C46A37D020}"/>
              </a:ext>
            </a:extLst>
          </p:cNvPr>
          <p:cNvSpPr>
            <a:spLocks noGrp="1"/>
          </p:cNvSpPr>
          <p:nvPr>
            <p:ph type="title"/>
          </p:nvPr>
        </p:nvSpPr>
        <p:spPr/>
        <p:txBody>
          <a:bodyPr/>
          <a:lstStyle/>
          <a:p>
            <a:r>
              <a:rPr lang="en-US" dirty="0"/>
              <a:t>Reflection</a:t>
            </a:r>
            <a:endParaRPr lang="en-GB" dirty="0"/>
          </a:p>
        </p:txBody>
      </p:sp>
      <p:sp>
        <p:nvSpPr>
          <p:cNvPr id="3" name="Content Placeholder 2">
            <a:extLst>
              <a:ext uri="{FF2B5EF4-FFF2-40B4-BE49-F238E27FC236}">
                <a16:creationId xmlns:a16="http://schemas.microsoft.com/office/drawing/2014/main" id="{6DFD1557-5452-3500-707E-5086BA068B24}"/>
              </a:ext>
            </a:extLst>
          </p:cNvPr>
          <p:cNvSpPr>
            <a:spLocks noGrp="1"/>
          </p:cNvSpPr>
          <p:nvPr>
            <p:ph idx="1"/>
          </p:nvPr>
        </p:nvSpPr>
        <p:spPr/>
        <p:txBody>
          <a:bodyPr/>
          <a:lstStyle/>
          <a:p>
            <a:pPr marL="0" indent="0">
              <a:buNone/>
            </a:pPr>
            <a:endParaRPr lang="en-US" sz="5400" b="1" baseline="30000" dirty="0">
              <a:solidFill>
                <a:srgbClr val="00B0F0"/>
              </a:solidFill>
              <a:latin typeface="system-ui"/>
            </a:endParaRPr>
          </a:p>
          <a:p>
            <a:pPr marL="0" indent="0">
              <a:buNone/>
            </a:pPr>
            <a:r>
              <a:rPr lang="en-US" sz="5400" b="1" i="0" baseline="30000" dirty="0">
                <a:solidFill>
                  <a:srgbClr val="00B0F0"/>
                </a:solidFill>
                <a:effectLst/>
                <a:latin typeface="system-ui"/>
              </a:rPr>
              <a:t>Colossians 2:6-7</a:t>
            </a:r>
          </a:p>
          <a:p>
            <a:r>
              <a:rPr lang="en-US" b="1" i="0" baseline="30000" dirty="0">
                <a:solidFill>
                  <a:srgbClr val="000000"/>
                </a:solidFill>
                <a:effectLst/>
                <a:latin typeface="system-ui"/>
              </a:rPr>
              <a:t>6 </a:t>
            </a:r>
            <a:r>
              <a:rPr lang="en-US" b="0" i="0" dirty="0">
                <a:solidFill>
                  <a:srgbClr val="000000"/>
                </a:solidFill>
                <a:effectLst/>
                <a:latin typeface="system-ui"/>
              </a:rPr>
              <a:t>So then, just as you received Christ Jesus as Lord, continue to live your lives in him, </a:t>
            </a:r>
            <a:r>
              <a:rPr lang="en-US" b="1" i="0" baseline="30000" dirty="0">
                <a:solidFill>
                  <a:srgbClr val="000000"/>
                </a:solidFill>
                <a:effectLst/>
                <a:latin typeface="system-ui"/>
              </a:rPr>
              <a:t>7 </a:t>
            </a:r>
            <a:r>
              <a:rPr lang="en-US" b="0" i="0" dirty="0">
                <a:solidFill>
                  <a:srgbClr val="000000"/>
                </a:solidFill>
                <a:effectLst/>
                <a:latin typeface="system-ui"/>
              </a:rPr>
              <a:t>rooted and built up in him, strengthened in the faith as you were taught, and overflowing with thankfulness.</a:t>
            </a:r>
            <a:endParaRPr lang="en-GB" dirty="0"/>
          </a:p>
        </p:txBody>
      </p:sp>
    </p:spTree>
    <p:extLst>
      <p:ext uri="{BB962C8B-B14F-4D97-AF65-F5344CB8AC3E}">
        <p14:creationId xmlns:p14="http://schemas.microsoft.com/office/powerpoint/2010/main" val="1770799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7126C-1290-6F68-439A-1F422EC3CCF8}"/>
              </a:ext>
            </a:extLst>
          </p:cNvPr>
          <p:cNvSpPr>
            <a:spLocks noGrp="1"/>
          </p:cNvSpPr>
          <p:nvPr>
            <p:ph type="title"/>
          </p:nvPr>
        </p:nvSpPr>
        <p:spPr/>
        <p:txBody>
          <a:bodyPr>
            <a:normAutofit/>
          </a:bodyPr>
          <a:lstStyle/>
          <a:p>
            <a:r>
              <a:rPr lang="en-GB" sz="3600" b="1" dirty="0">
                <a:solidFill>
                  <a:srgbClr val="00B0F0"/>
                </a:solidFill>
              </a:rPr>
              <a:t>Introduction &amp; </a:t>
            </a:r>
            <a:r>
              <a:rPr lang="en-US" sz="3600" b="1" dirty="0">
                <a:solidFill>
                  <a:srgbClr val="00B0F0"/>
                </a:solidFill>
              </a:rPr>
              <a:t>setting up the Android Studio </a:t>
            </a:r>
            <a:endParaRPr lang="en-GB" sz="5200" b="1" dirty="0">
              <a:solidFill>
                <a:srgbClr val="00B0F0"/>
              </a:solidFill>
            </a:endParaRPr>
          </a:p>
        </p:txBody>
      </p:sp>
      <p:sp>
        <p:nvSpPr>
          <p:cNvPr id="3" name="Content Placeholder 2">
            <a:extLst>
              <a:ext uri="{FF2B5EF4-FFF2-40B4-BE49-F238E27FC236}">
                <a16:creationId xmlns:a16="http://schemas.microsoft.com/office/drawing/2014/main" id="{AC5E59A3-0AA0-BECC-05A4-80F50B60D25D}"/>
              </a:ext>
            </a:extLst>
          </p:cNvPr>
          <p:cNvSpPr>
            <a:spLocks noGrp="1"/>
          </p:cNvSpPr>
          <p:nvPr>
            <p:ph idx="1"/>
          </p:nvPr>
        </p:nvSpPr>
        <p:spPr/>
        <p:txBody>
          <a:bodyPr/>
          <a:lstStyle/>
          <a:p>
            <a:r>
              <a:rPr lang="en-US" sz="3200" b="0" i="0" u="none" strike="noStrike" baseline="0" dirty="0">
                <a:solidFill>
                  <a:srgbClr val="000000"/>
                </a:solidFill>
                <a:latin typeface="Times New Roman" panose="02020603050405020304" pitchFamily="18" charset="0"/>
              </a:rPr>
              <a:t>Overview of Flutter framework  </a:t>
            </a:r>
          </a:p>
          <a:p>
            <a:r>
              <a:rPr lang="en-US" sz="3200" b="0" i="0" u="none" strike="noStrike" baseline="0" dirty="0">
                <a:solidFill>
                  <a:srgbClr val="000000"/>
                </a:solidFill>
                <a:latin typeface="Times New Roman" panose="02020603050405020304" pitchFamily="18" charset="0"/>
              </a:rPr>
              <a:t>Overview of Dart </a:t>
            </a:r>
          </a:p>
          <a:p>
            <a:r>
              <a:rPr lang="en-GB" sz="3200" b="0" i="0" u="none" strike="noStrike" baseline="0" dirty="0">
                <a:solidFill>
                  <a:srgbClr val="000000"/>
                </a:solidFill>
                <a:latin typeface="Times New Roman" panose="02020603050405020304" pitchFamily="18" charset="0"/>
              </a:rPr>
              <a:t>Mobile platforms </a:t>
            </a:r>
          </a:p>
          <a:p>
            <a:r>
              <a:rPr lang="en-US" sz="3200" b="0" i="0" u="none" strike="noStrike" baseline="0" dirty="0">
                <a:solidFill>
                  <a:srgbClr val="000000"/>
                </a:solidFill>
                <a:latin typeface="Times New Roman" panose="02020603050405020304" pitchFamily="18" charset="0"/>
              </a:rPr>
              <a:t>Compare Flutter to other frameworks 	</a:t>
            </a:r>
          </a:p>
          <a:p>
            <a:pPr marL="0" indent="0">
              <a:buNone/>
            </a:pPr>
            <a:endParaRPr lang="en-GB" dirty="0"/>
          </a:p>
        </p:txBody>
      </p:sp>
      <p:pic>
        <p:nvPicPr>
          <p:cNvPr id="9" name="Graphic 8" descr="Woman taking a photo">
            <a:extLst>
              <a:ext uri="{FF2B5EF4-FFF2-40B4-BE49-F238E27FC236}">
                <a16:creationId xmlns:a16="http://schemas.microsoft.com/office/drawing/2014/main" id="{0DE8DF56-7CB8-5E65-5B38-CAC19809E8D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01755" y="1721984"/>
            <a:ext cx="2390417" cy="3071132"/>
          </a:xfrm>
          <a:prstGeom prst="rect">
            <a:avLst/>
          </a:prstGeom>
        </p:spPr>
      </p:pic>
    </p:spTree>
    <p:extLst>
      <p:ext uri="{BB962C8B-B14F-4D97-AF65-F5344CB8AC3E}">
        <p14:creationId xmlns:p14="http://schemas.microsoft.com/office/powerpoint/2010/main" val="1322451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F9566-4CB1-65DD-B4C9-D2DA8BA7A1B3}"/>
              </a:ext>
            </a:extLst>
          </p:cNvPr>
          <p:cNvSpPr>
            <a:spLocks noGrp="1"/>
          </p:cNvSpPr>
          <p:nvPr>
            <p:ph type="title"/>
          </p:nvPr>
        </p:nvSpPr>
        <p:spPr/>
        <p:txBody>
          <a:bodyPr>
            <a:normAutofit/>
          </a:bodyPr>
          <a:lstStyle/>
          <a:p>
            <a:r>
              <a:rPr lang="en-US" sz="5400" b="0" i="0" u="none" strike="noStrike" baseline="0" dirty="0">
                <a:solidFill>
                  <a:srgbClr val="000000"/>
                </a:solidFill>
                <a:latin typeface="Times New Roman" panose="02020603050405020304" pitchFamily="18" charset="0"/>
              </a:rPr>
              <a:t>Overview of Flutter framework  </a:t>
            </a:r>
            <a:endParaRPr lang="en-GB" dirty="0"/>
          </a:p>
        </p:txBody>
      </p:sp>
      <p:sp>
        <p:nvSpPr>
          <p:cNvPr id="3" name="Content Placeholder 2">
            <a:extLst>
              <a:ext uri="{FF2B5EF4-FFF2-40B4-BE49-F238E27FC236}">
                <a16:creationId xmlns:a16="http://schemas.microsoft.com/office/drawing/2014/main" id="{464D7276-8EB5-D567-D288-4F2DB4492ECC}"/>
              </a:ext>
            </a:extLst>
          </p:cNvPr>
          <p:cNvSpPr>
            <a:spLocks noGrp="1"/>
          </p:cNvSpPr>
          <p:nvPr>
            <p:ph idx="1"/>
          </p:nvPr>
        </p:nvSpPr>
        <p:spPr>
          <a:xfrm>
            <a:off x="609601" y="1600201"/>
            <a:ext cx="11187792" cy="4525963"/>
          </a:xfrm>
        </p:spPr>
        <p:txBody>
          <a:bodyPr>
            <a:normAutofit fontScale="92500" lnSpcReduction="10000"/>
          </a:bodyPr>
          <a:lstStyle/>
          <a:p>
            <a:r>
              <a:rPr lang="en-US" b="0" i="0" dirty="0">
                <a:solidFill>
                  <a:srgbClr val="000000"/>
                </a:solidFill>
                <a:effectLst/>
                <a:latin typeface="var(--font-gsans)"/>
                <a:hlinkClick r:id="rId2"/>
              </a:rPr>
              <a:t>Flutter</a:t>
            </a:r>
            <a:r>
              <a:rPr lang="en-US" b="0" i="0" dirty="0">
                <a:solidFill>
                  <a:srgbClr val="000000"/>
                </a:solidFill>
                <a:effectLst/>
                <a:latin typeface="var(--font-gsans)"/>
              </a:rPr>
              <a:t> is an</a:t>
            </a:r>
            <a:r>
              <a:rPr lang="en-US" b="0" i="0" dirty="0">
                <a:solidFill>
                  <a:srgbClr val="00B0F0"/>
                </a:solidFill>
                <a:effectLst/>
                <a:latin typeface="var(--font-gsans)"/>
              </a:rPr>
              <a:t> open-source </a:t>
            </a:r>
            <a:r>
              <a:rPr lang="en-US" b="0" i="0" dirty="0">
                <a:effectLst/>
                <a:latin typeface="var(--font-gsans)"/>
              </a:rPr>
              <a:t>UI</a:t>
            </a:r>
            <a:r>
              <a:rPr lang="en-US" b="0" i="0" dirty="0">
                <a:solidFill>
                  <a:srgbClr val="00B0F0"/>
                </a:solidFill>
                <a:effectLst/>
                <a:latin typeface="var(--font-gsans)"/>
              </a:rPr>
              <a:t> </a:t>
            </a:r>
            <a:r>
              <a:rPr lang="en-US" b="0" i="0" dirty="0">
                <a:solidFill>
                  <a:srgbClr val="000000"/>
                </a:solidFill>
                <a:effectLst/>
                <a:latin typeface="var(--font-gsans)"/>
              </a:rPr>
              <a:t>framework by Google for building beautiful, </a:t>
            </a:r>
            <a:r>
              <a:rPr lang="en-US" b="0" i="0" dirty="0">
                <a:solidFill>
                  <a:srgbClr val="00B0F0"/>
                </a:solidFill>
                <a:effectLst/>
                <a:latin typeface="var(--font-gsans)"/>
              </a:rPr>
              <a:t>natively compiled</a:t>
            </a:r>
            <a:r>
              <a:rPr lang="en-US" b="0" i="0" dirty="0">
                <a:solidFill>
                  <a:srgbClr val="000000"/>
                </a:solidFill>
                <a:effectLst/>
                <a:latin typeface="var(--font-gsans)"/>
              </a:rPr>
              <a:t>, </a:t>
            </a:r>
            <a:r>
              <a:rPr lang="en-US" b="0" i="0" dirty="0">
                <a:solidFill>
                  <a:srgbClr val="00B0F0"/>
                </a:solidFill>
                <a:effectLst/>
                <a:latin typeface="var(--font-gsans)"/>
              </a:rPr>
              <a:t>multi-platform</a:t>
            </a:r>
            <a:r>
              <a:rPr lang="en-US" b="0" i="0" dirty="0">
                <a:solidFill>
                  <a:srgbClr val="000000"/>
                </a:solidFill>
                <a:effectLst/>
                <a:latin typeface="var(--font-gsans)"/>
              </a:rPr>
              <a:t> applications from a </a:t>
            </a:r>
            <a:r>
              <a:rPr lang="en-US" b="0" i="0" dirty="0">
                <a:solidFill>
                  <a:srgbClr val="00B0F0"/>
                </a:solidFill>
                <a:effectLst/>
                <a:latin typeface="var(--font-gsans)"/>
              </a:rPr>
              <a:t>single codebase</a:t>
            </a:r>
            <a:r>
              <a:rPr lang="en-US" b="0" i="0" dirty="0">
                <a:solidFill>
                  <a:srgbClr val="000000"/>
                </a:solidFill>
                <a:effectLst/>
                <a:latin typeface="var(--font-gsans)"/>
              </a:rPr>
              <a:t>.</a:t>
            </a:r>
          </a:p>
          <a:p>
            <a:r>
              <a:rPr lang="en-GB" dirty="0"/>
              <a:t>Released in 2018</a:t>
            </a:r>
          </a:p>
          <a:p>
            <a:r>
              <a:rPr lang="en-US" dirty="0"/>
              <a:t>Uses the Google graphics library</a:t>
            </a:r>
          </a:p>
          <a:p>
            <a:pPr marL="0" indent="0">
              <a:buNone/>
            </a:pPr>
            <a:r>
              <a:rPr lang="en-US" dirty="0"/>
              <a:t> known as </a:t>
            </a:r>
            <a:r>
              <a:rPr lang="en-US" dirty="0" err="1"/>
              <a:t>Skia</a:t>
            </a:r>
            <a:r>
              <a:rPr lang="en-US" dirty="0"/>
              <a:t>.</a:t>
            </a:r>
          </a:p>
          <a:p>
            <a:r>
              <a:rPr lang="en-GB" dirty="0"/>
              <a:t>Used to develop apps for Android, iOS, </a:t>
            </a:r>
            <a:r>
              <a:rPr lang="en-GB" dirty="0">
                <a:hlinkClick r:id="rId3"/>
              </a:rPr>
              <a:t>Fuchsia</a:t>
            </a:r>
            <a:r>
              <a:rPr lang="en-GB" dirty="0"/>
              <a:t> , Web, and Desktop (MacOS, Linux, Windows)</a:t>
            </a:r>
          </a:p>
        </p:txBody>
      </p:sp>
      <p:grpSp>
        <p:nvGrpSpPr>
          <p:cNvPr id="7" name="Group 6">
            <a:extLst>
              <a:ext uri="{FF2B5EF4-FFF2-40B4-BE49-F238E27FC236}">
                <a16:creationId xmlns:a16="http://schemas.microsoft.com/office/drawing/2014/main" id="{BA027161-1C22-2857-29AB-CDFD9D62AA37}"/>
              </a:ext>
            </a:extLst>
          </p:cNvPr>
          <p:cNvGrpSpPr/>
          <p:nvPr/>
        </p:nvGrpSpPr>
        <p:grpSpPr>
          <a:xfrm>
            <a:off x="8303079" y="2775857"/>
            <a:ext cx="2881994" cy="1968103"/>
            <a:chOff x="7707086" y="3429000"/>
            <a:chExt cx="2881994" cy="1968103"/>
          </a:xfrm>
        </p:grpSpPr>
        <p:pic>
          <p:nvPicPr>
            <p:cNvPr id="5" name="Graphic 4" descr="A surprised face">
              <a:extLst>
                <a:ext uri="{FF2B5EF4-FFF2-40B4-BE49-F238E27FC236}">
                  <a16:creationId xmlns:a16="http://schemas.microsoft.com/office/drawing/2014/main" id="{84E85380-A33B-EE85-A88F-025B8033444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707086" y="3429000"/>
              <a:ext cx="1657350" cy="1968103"/>
            </a:xfrm>
            <a:prstGeom prst="rect">
              <a:avLst/>
            </a:prstGeom>
          </p:spPr>
        </p:pic>
        <p:sp>
          <p:nvSpPr>
            <p:cNvPr id="6" name="Speech Bubble: Oval 5">
              <a:extLst>
                <a:ext uri="{FF2B5EF4-FFF2-40B4-BE49-F238E27FC236}">
                  <a16:creationId xmlns:a16="http://schemas.microsoft.com/office/drawing/2014/main" id="{1A2BC80D-4988-6B0B-3598-FC24471EB7A5}"/>
                </a:ext>
              </a:extLst>
            </p:cNvPr>
            <p:cNvSpPr/>
            <p:nvPr/>
          </p:nvSpPr>
          <p:spPr>
            <a:xfrm>
              <a:off x="9056916" y="4413051"/>
              <a:ext cx="1532164" cy="751114"/>
            </a:xfrm>
            <a:prstGeom prst="wedgeEllipseCallout">
              <a:avLst>
                <a:gd name="adj1" fmla="val -60450"/>
                <a:gd name="adj2" fmla="val 64674"/>
              </a:avLst>
            </a:prstGeom>
            <a:solidFill>
              <a:srgbClr val="00B0F0"/>
            </a:solidFill>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What?!</a:t>
              </a:r>
              <a:endParaRPr lang="en-GB" dirty="0"/>
            </a:p>
          </p:txBody>
        </p:sp>
      </p:grpSp>
    </p:spTree>
    <p:extLst>
      <p:ext uri="{BB962C8B-B14F-4D97-AF65-F5344CB8AC3E}">
        <p14:creationId xmlns:p14="http://schemas.microsoft.com/office/powerpoint/2010/main" val="3579065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34051-B2ED-9061-1759-AF3BD3332372}"/>
              </a:ext>
            </a:extLst>
          </p:cNvPr>
          <p:cNvSpPr>
            <a:spLocks noGrp="1"/>
          </p:cNvSpPr>
          <p:nvPr>
            <p:ph type="title"/>
          </p:nvPr>
        </p:nvSpPr>
        <p:spPr/>
        <p:txBody>
          <a:bodyPr>
            <a:normAutofit fontScale="90000"/>
          </a:bodyPr>
          <a:lstStyle/>
          <a:p>
            <a:r>
              <a:rPr lang="en-US" dirty="0"/>
              <a:t>Some History in Mobile Application Development</a:t>
            </a:r>
            <a:endParaRPr lang="en-GB" dirty="0"/>
          </a:p>
        </p:txBody>
      </p:sp>
      <p:sp>
        <p:nvSpPr>
          <p:cNvPr id="3" name="Content Placeholder 2">
            <a:extLst>
              <a:ext uri="{FF2B5EF4-FFF2-40B4-BE49-F238E27FC236}">
                <a16:creationId xmlns:a16="http://schemas.microsoft.com/office/drawing/2014/main" id="{B10F3F53-59F9-D06A-DF46-038A67DA9D59}"/>
              </a:ext>
            </a:extLst>
          </p:cNvPr>
          <p:cNvSpPr>
            <a:spLocks noGrp="1"/>
          </p:cNvSpPr>
          <p:nvPr>
            <p:ph idx="1"/>
          </p:nvPr>
        </p:nvSpPr>
        <p:spPr/>
        <p:txBody>
          <a:bodyPr/>
          <a:lstStyle/>
          <a:p>
            <a:r>
              <a:rPr lang="en-US" dirty="0"/>
              <a:t>There are three major mobile platforms:</a:t>
            </a:r>
          </a:p>
          <a:p>
            <a:pPr lvl="1"/>
            <a:r>
              <a:rPr lang="en-US" dirty="0"/>
              <a:t>Android( Java or Kotlin)</a:t>
            </a:r>
          </a:p>
          <a:p>
            <a:pPr lvl="1"/>
            <a:r>
              <a:rPr lang="en-US" dirty="0"/>
              <a:t>IOS (Language: </a:t>
            </a:r>
            <a:r>
              <a:rPr lang="en-GB" dirty="0"/>
              <a:t>Objective-C and Swift)</a:t>
            </a:r>
            <a:endParaRPr lang="en-US" dirty="0"/>
          </a:p>
          <a:p>
            <a:pPr lvl="1"/>
            <a:r>
              <a:rPr lang="en-US" dirty="0"/>
              <a:t>Windows Mobile</a:t>
            </a:r>
          </a:p>
          <a:p>
            <a:pPr lvl="1"/>
            <a:r>
              <a:rPr lang="en-US" strike="sngStrike" dirty="0"/>
              <a:t>Symbian</a:t>
            </a:r>
          </a:p>
          <a:p>
            <a:pPr lvl="1"/>
            <a:r>
              <a:rPr lang="en-US" strike="sngStrike" dirty="0" err="1"/>
              <a:t>PalmOS</a:t>
            </a:r>
            <a:endParaRPr lang="en-GB" strike="sngStrike" dirty="0"/>
          </a:p>
        </p:txBody>
      </p:sp>
      <p:sp>
        <p:nvSpPr>
          <p:cNvPr id="4" name="Double Brace 3">
            <a:extLst>
              <a:ext uri="{FF2B5EF4-FFF2-40B4-BE49-F238E27FC236}">
                <a16:creationId xmlns:a16="http://schemas.microsoft.com/office/drawing/2014/main" id="{B7EFDBA3-5E0C-3747-48D5-B148CAA7E762}"/>
              </a:ext>
            </a:extLst>
          </p:cNvPr>
          <p:cNvSpPr/>
          <p:nvPr/>
        </p:nvSpPr>
        <p:spPr>
          <a:xfrm>
            <a:off x="3175907" y="4449536"/>
            <a:ext cx="2530929" cy="759278"/>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Used in the early days of mobile apps</a:t>
            </a:r>
            <a:endParaRPr lang="en-GB" dirty="0"/>
          </a:p>
        </p:txBody>
      </p:sp>
      <p:sp>
        <p:nvSpPr>
          <p:cNvPr id="5" name="Rectangle: Rounded Corners 4">
            <a:extLst>
              <a:ext uri="{FF2B5EF4-FFF2-40B4-BE49-F238E27FC236}">
                <a16:creationId xmlns:a16="http://schemas.microsoft.com/office/drawing/2014/main" id="{6A6E2139-35B8-DA5F-C074-C8E1653202EF}"/>
              </a:ext>
            </a:extLst>
          </p:cNvPr>
          <p:cNvSpPr/>
          <p:nvPr/>
        </p:nvSpPr>
        <p:spPr>
          <a:xfrm>
            <a:off x="7224691" y="3610239"/>
            <a:ext cx="4278085" cy="2437872"/>
          </a:xfrm>
          <a:prstGeom prst="roundRect">
            <a:avLst/>
          </a:prstGeom>
          <a:solidFill>
            <a:srgbClr val="00B0F0"/>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400" dirty="0"/>
              <a:t>A company </a:t>
            </a:r>
            <a:r>
              <a:rPr lang="en-US" sz="2400" dirty="0" err="1"/>
              <a:t>e.g</a:t>
            </a:r>
            <a:r>
              <a:rPr lang="en-US" sz="2400" dirty="0"/>
              <a:t> bank (KCB, Coop Bank), e-commerce (think Jumia) wishing to launch a mobile app had to develop NATIVE apps for each platform separately!! </a:t>
            </a:r>
            <a:endParaRPr lang="en-GB" sz="2400" dirty="0"/>
          </a:p>
        </p:txBody>
      </p:sp>
    </p:spTree>
    <p:extLst>
      <p:ext uri="{BB962C8B-B14F-4D97-AF65-F5344CB8AC3E}">
        <p14:creationId xmlns:p14="http://schemas.microsoft.com/office/powerpoint/2010/main" val="3436070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182C36-4535-2528-D1E4-0B68863FB1C8}"/>
              </a:ext>
            </a:extLst>
          </p:cNvPr>
          <p:cNvSpPr>
            <a:spLocks noGrp="1"/>
          </p:cNvSpPr>
          <p:nvPr>
            <p:ph idx="1"/>
          </p:nvPr>
        </p:nvSpPr>
        <p:spPr>
          <a:xfrm>
            <a:off x="609600" y="677637"/>
            <a:ext cx="11285763" cy="5448528"/>
          </a:xfrm>
        </p:spPr>
        <p:txBody>
          <a:bodyPr>
            <a:normAutofit fontScale="92500" lnSpcReduction="20000"/>
          </a:bodyPr>
          <a:lstStyle/>
          <a:p>
            <a:pPr marL="0" indent="0">
              <a:buNone/>
            </a:pPr>
            <a:r>
              <a:rPr lang="en-US" b="1" dirty="0">
                <a:solidFill>
                  <a:srgbClr val="00B0F0"/>
                </a:solidFill>
              </a:rPr>
              <a:t>Native mobile apps </a:t>
            </a:r>
          </a:p>
          <a:p>
            <a:pPr marL="0" indent="0">
              <a:buNone/>
            </a:pPr>
            <a:r>
              <a:rPr lang="en-US" dirty="0">
                <a:solidFill>
                  <a:srgbClr val="3F4751"/>
                </a:solidFill>
                <a:latin typeface="AvertaStd"/>
              </a:rPr>
              <a:t>D</a:t>
            </a:r>
            <a:r>
              <a:rPr lang="en-US" b="0" i="0" dirty="0">
                <a:solidFill>
                  <a:srgbClr val="3F4751"/>
                </a:solidFill>
                <a:effectLst/>
                <a:latin typeface="AvertaStd"/>
              </a:rPr>
              <a:t>eveloping an app using right tools specific to a certain mobile operating system (OS)</a:t>
            </a:r>
            <a:endParaRPr lang="en-US" b="1" dirty="0">
              <a:solidFill>
                <a:srgbClr val="00B0F0"/>
              </a:solidFill>
            </a:endParaRPr>
          </a:p>
          <a:p>
            <a:pPr marL="0" indent="0">
              <a:buNone/>
            </a:pPr>
            <a:r>
              <a:rPr lang="en-US" dirty="0"/>
              <a:t>Features:</a:t>
            </a:r>
          </a:p>
          <a:p>
            <a:pPr marL="0" indent="0">
              <a:buNone/>
            </a:pPr>
            <a:r>
              <a:rPr lang="en-US" dirty="0"/>
              <a:t>• Easy access to device APIs such as camera, microphone, location, and so on. • Capability to observe and react to system events • Ability to run background tasks and push notiﬁcations • GPU access for rendering</a:t>
            </a:r>
          </a:p>
          <a:p>
            <a:pPr marL="0" indent="0">
              <a:buNone/>
            </a:pPr>
            <a:r>
              <a:rPr lang="en-US" b="1" dirty="0">
                <a:solidFill>
                  <a:srgbClr val="C00000"/>
                </a:solidFill>
              </a:rPr>
              <a:t>L1Q1: What are the challenges of having to create native apps for each platform? </a:t>
            </a:r>
            <a:endParaRPr lang="en-GB" b="1" dirty="0">
              <a:solidFill>
                <a:srgbClr val="C00000"/>
              </a:solidFill>
            </a:endParaRPr>
          </a:p>
        </p:txBody>
      </p:sp>
    </p:spTree>
    <p:extLst>
      <p:ext uri="{BB962C8B-B14F-4D97-AF65-F5344CB8AC3E}">
        <p14:creationId xmlns:p14="http://schemas.microsoft.com/office/powerpoint/2010/main" val="2491281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D0209-6B48-3763-49B3-45AC67F6EDE6}"/>
              </a:ext>
            </a:extLst>
          </p:cNvPr>
          <p:cNvSpPr>
            <a:spLocks noGrp="1"/>
          </p:cNvSpPr>
          <p:nvPr>
            <p:ph type="title"/>
          </p:nvPr>
        </p:nvSpPr>
        <p:spPr>
          <a:xfrm>
            <a:off x="609600" y="259221"/>
            <a:ext cx="10972800" cy="698756"/>
          </a:xfrm>
        </p:spPr>
        <p:txBody>
          <a:bodyPr>
            <a:normAutofit fontScale="90000"/>
          </a:bodyPr>
          <a:lstStyle/>
          <a:p>
            <a:r>
              <a:rPr lang="en-GB" b="1" i="0" dirty="0">
                <a:solidFill>
                  <a:srgbClr val="003C3E"/>
                </a:solidFill>
                <a:effectLst/>
                <a:latin typeface="Poppins" panose="00000500000000000000" pitchFamily="2" charset="0"/>
              </a:rPr>
              <a:t>Native App Development Benefits</a:t>
            </a:r>
            <a:endParaRPr lang="en-GB" dirty="0"/>
          </a:p>
        </p:txBody>
      </p:sp>
      <p:sp>
        <p:nvSpPr>
          <p:cNvPr id="3" name="Content Placeholder 2">
            <a:extLst>
              <a:ext uri="{FF2B5EF4-FFF2-40B4-BE49-F238E27FC236}">
                <a16:creationId xmlns:a16="http://schemas.microsoft.com/office/drawing/2014/main" id="{0E90A882-5A1E-A8B3-21EB-9F3C6250DF29}"/>
              </a:ext>
            </a:extLst>
          </p:cNvPr>
          <p:cNvSpPr>
            <a:spLocks noGrp="1"/>
          </p:cNvSpPr>
          <p:nvPr>
            <p:ph idx="1"/>
          </p:nvPr>
        </p:nvSpPr>
        <p:spPr>
          <a:xfrm>
            <a:off x="250723" y="1042220"/>
            <a:ext cx="11690554" cy="4946294"/>
          </a:xfrm>
        </p:spPr>
        <p:txBody>
          <a:bodyPr>
            <a:noAutofit/>
          </a:bodyPr>
          <a:lstStyle/>
          <a:p>
            <a:pPr marL="457200" indent="-457200" algn="l">
              <a:buFont typeface="+mj-lt"/>
              <a:buAutoNum type="arabicPeriod"/>
            </a:pPr>
            <a:r>
              <a:rPr lang="en-US" sz="2400" b="1" i="0" dirty="0">
                <a:solidFill>
                  <a:srgbClr val="003C3E"/>
                </a:solidFill>
                <a:effectLst/>
                <a:latin typeface="+mj-lt"/>
              </a:rPr>
              <a:t>Maximum capability.</a:t>
            </a:r>
            <a:r>
              <a:rPr lang="en-US" sz="2400" b="0" i="0" dirty="0">
                <a:solidFill>
                  <a:srgbClr val="003C3E"/>
                </a:solidFill>
                <a:effectLst/>
                <a:latin typeface="+mj-lt"/>
              </a:rPr>
              <a:t>  Native applications can fully use the platform’s capabilities.</a:t>
            </a:r>
          </a:p>
          <a:p>
            <a:pPr marL="457200" indent="-457200" algn="l">
              <a:buFont typeface="+mj-lt"/>
              <a:buAutoNum type="arabicPeriod"/>
            </a:pPr>
            <a:r>
              <a:rPr lang="en-US" sz="2400" b="1" i="0" dirty="0">
                <a:solidFill>
                  <a:srgbClr val="003C3E"/>
                </a:solidFill>
                <a:effectLst/>
                <a:latin typeface="+mj-lt"/>
              </a:rPr>
              <a:t>Complexity.</a:t>
            </a:r>
            <a:r>
              <a:rPr lang="en-US" sz="2400" b="0" i="0" dirty="0">
                <a:solidFill>
                  <a:srgbClr val="003C3E"/>
                </a:solidFill>
                <a:effectLst/>
                <a:latin typeface="+mj-lt"/>
              </a:rPr>
              <a:t> Native development allows for the creation of complex and performant mobile applications that can be customized and personalized in accordance with the user’s requirements.</a:t>
            </a:r>
          </a:p>
          <a:p>
            <a:pPr marL="457200" indent="-457200" algn="l">
              <a:buFont typeface="+mj-lt"/>
              <a:buAutoNum type="arabicPeriod"/>
            </a:pPr>
            <a:r>
              <a:rPr lang="en-US" sz="2400" b="1" i="0" dirty="0">
                <a:solidFill>
                  <a:srgbClr val="003C3E"/>
                </a:solidFill>
                <a:effectLst/>
                <a:latin typeface="+mj-lt"/>
              </a:rPr>
              <a:t>Performance.</a:t>
            </a:r>
            <a:r>
              <a:rPr lang="en-US" sz="2400" b="0" i="0" dirty="0">
                <a:solidFill>
                  <a:srgbClr val="003C3E"/>
                </a:solidFill>
                <a:effectLst/>
                <a:latin typeface="+mj-lt"/>
              </a:rPr>
              <a:t> One of the strongest benefits of native components is supreme performance. Engineers can use numerous native app development tools, APIs, and kits that ease the process of building an intuitive and performant product. </a:t>
            </a:r>
          </a:p>
          <a:p>
            <a:pPr marL="457200" indent="-457200" algn="l">
              <a:buFont typeface="+mj-lt"/>
              <a:buAutoNum type="arabicPeriod"/>
            </a:pPr>
            <a:r>
              <a:rPr lang="en-US" sz="2400" b="1" i="0" dirty="0">
                <a:solidFill>
                  <a:srgbClr val="003C3E"/>
                </a:solidFill>
                <a:effectLst/>
                <a:latin typeface="+mj-lt"/>
              </a:rPr>
              <a:t>Hardware access.</a:t>
            </a:r>
            <a:r>
              <a:rPr lang="en-US" sz="2400" b="0" i="0" dirty="0">
                <a:solidFill>
                  <a:srgbClr val="003C3E"/>
                </a:solidFill>
                <a:effectLst/>
                <a:latin typeface="+mj-lt"/>
              </a:rPr>
              <a:t> Native apps can ask for direct access to the smartphone’s hardware such as a microphone, camera, GPS, etc. Unlike native apps, hybrid and cross-platform apps should use APIs to get access to the hardware, which complicates the app’s performance.</a:t>
            </a:r>
          </a:p>
          <a:p>
            <a:pPr marL="457200" indent="-457200" algn="l">
              <a:buFont typeface="+mj-lt"/>
              <a:buAutoNum type="arabicPeriod"/>
            </a:pPr>
            <a:r>
              <a:rPr lang="en-US" sz="2400" b="1" i="0" dirty="0">
                <a:solidFill>
                  <a:srgbClr val="003C3E"/>
                </a:solidFill>
                <a:effectLst/>
                <a:latin typeface="+mj-lt"/>
              </a:rPr>
              <a:t>Fewer chances of bugs.</a:t>
            </a:r>
            <a:r>
              <a:rPr lang="en-US" sz="2400" b="0" i="0" dirty="0">
                <a:solidFill>
                  <a:srgbClr val="003C3E"/>
                </a:solidFill>
                <a:effectLst/>
                <a:latin typeface="+mj-lt"/>
              </a:rPr>
              <a:t> Native development reduces the likability of bugs to a minimum. That’s because mobile app developers need to manage one codebase instead of several.</a:t>
            </a:r>
            <a:endParaRPr lang="en-GB" sz="2400" dirty="0">
              <a:latin typeface="+mj-lt"/>
            </a:endParaRPr>
          </a:p>
        </p:txBody>
      </p:sp>
    </p:spTree>
    <p:extLst>
      <p:ext uri="{BB962C8B-B14F-4D97-AF65-F5344CB8AC3E}">
        <p14:creationId xmlns:p14="http://schemas.microsoft.com/office/powerpoint/2010/main" val="2315771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C387EF-0296-DE4B-67D6-67E9A8936AE1}"/>
              </a:ext>
            </a:extLst>
          </p:cNvPr>
          <p:cNvSpPr>
            <a:spLocks noGrp="1"/>
          </p:cNvSpPr>
          <p:nvPr>
            <p:ph idx="1"/>
          </p:nvPr>
        </p:nvSpPr>
        <p:spPr>
          <a:xfrm>
            <a:off x="609601" y="359229"/>
            <a:ext cx="10972800" cy="5766936"/>
          </a:xfrm>
        </p:spPr>
        <p:txBody>
          <a:bodyPr/>
          <a:lstStyle/>
          <a:p>
            <a:r>
              <a:rPr lang="en-US" dirty="0"/>
              <a:t>These problems led to the emergence of </a:t>
            </a:r>
            <a:r>
              <a:rPr lang="en-GB" dirty="0"/>
              <a:t> </a:t>
            </a:r>
            <a:r>
              <a:rPr lang="en-GB" dirty="0">
                <a:solidFill>
                  <a:srgbClr val="0070C0"/>
                </a:solidFill>
              </a:rPr>
              <a:t>hybrid frameworks</a:t>
            </a:r>
            <a:r>
              <a:rPr lang="en-US" dirty="0">
                <a:solidFill>
                  <a:srgbClr val="C00000"/>
                </a:solidFill>
              </a:rPr>
              <a:t> </a:t>
            </a:r>
            <a:r>
              <a:rPr lang="en-US" dirty="0"/>
              <a:t>such as</a:t>
            </a:r>
          </a:p>
          <a:p>
            <a:pPr marL="0" indent="0">
              <a:buNone/>
            </a:pPr>
            <a:endParaRPr lang="en-US" dirty="0"/>
          </a:p>
        </p:txBody>
      </p:sp>
      <p:pic>
        <p:nvPicPr>
          <p:cNvPr id="6" name="Picture 5">
            <a:extLst>
              <a:ext uri="{FF2B5EF4-FFF2-40B4-BE49-F238E27FC236}">
                <a16:creationId xmlns:a16="http://schemas.microsoft.com/office/drawing/2014/main" id="{41C3FF31-309B-22E3-1595-38B1520177D5}"/>
              </a:ext>
            </a:extLst>
          </p:cNvPr>
          <p:cNvPicPr>
            <a:picLocks noChangeAspect="1"/>
          </p:cNvPicPr>
          <p:nvPr/>
        </p:nvPicPr>
        <p:blipFill>
          <a:blip r:embed="rId2">
            <a:extLst>
              <a:ext uri="{BEBA8EAE-BF5A-486C-A8C5-ECC9F3942E4B}">
                <a14:imgProps xmlns:a14="http://schemas.microsoft.com/office/drawing/2010/main">
                  <a14:imgLayer r:embed="rId3">
                    <a14:imgEffect>
                      <a14:saturation sat="200000"/>
                    </a14:imgEffect>
                  </a14:imgLayer>
                </a14:imgProps>
              </a:ext>
            </a:extLst>
          </a:blip>
          <a:stretch>
            <a:fillRect/>
          </a:stretch>
        </p:blipFill>
        <p:spPr>
          <a:xfrm>
            <a:off x="416244" y="1701992"/>
            <a:ext cx="5984555" cy="3454016"/>
          </a:xfrm>
          <a:prstGeom prst="rect">
            <a:avLst/>
          </a:prstGeom>
          <a:ln>
            <a:noFill/>
          </a:ln>
          <a:effectLst>
            <a:softEdge rad="112500"/>
          </a:effectLst>
        </p:spPr>
      </p:pic>
      <p:sp>
        <p:nvSpPr>
          <p:cNvPr id="8" name="TextBox 7">
            <a:extLst>
              <a:ext uri="{FF2B5EF4-FFF2-40B4-BE49-F238E27FC236}">
                <a16:creationId xmlns:a16="http://schemas.microsoft.com/office/drawing/2014/main" id="{0DEF1999-9309-FA3C-45AD-F9BFA938A8FF}"/>
              </a:ext>
            </a:extLst>
          </p:cNvPr>
          <p:cNvSpPr txBox="1"/>
          <p:nvPr/>
        </p:nvSpPr>
        <p:spPr>
          <a:xfrm>
            <a:off x="6594156" y="1782471"/>
            <a:ext cx="5181600" cy="3000821"/>
          </a:xfrm>
          <a:prstGeom prst="rect">
            <a:avLst/>
          </a:prstGeom>
          <a:ln>
            <a:solidFill>
              <a:srgbClr val="00B0F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buAutoNum type="arabicPeriod"/>
            </a:pPr>
            <a:r>
              <a:rPr lang="en-US" dirty="0">
                <a:solidFill>
                  <a:srgbClr val="00B0F0"/>
                </a:solidFill>
              </a:rPr>
              <a:t>React Native: </a:t>
            </a:r>
            <a:r>
              <a:rPr lang="en-US" dirty="0"/>
              <a:t>Very popular. Popularized by Facebook</a:t>
            </a:r>
          </a:p>
          <a:p>
            <a:pPr marL="457200" indent="-457200">
              <a:buAutoNum type="arabicPeriod"/>
            </a:pPr>
            <a:r>
              <a:rPr lang="en-GB" dirty="0">
                <a:solidFill>
                  <a:srgbClr val="00B0F0"/>
                </a:solidFill>
              </a:rPr>
              <a:t>Flutter: </a:t>
            </a:r>
            <a:r>
              <a:rPr lang="en-GB" dirty="0"/>
              <a:t>Fastest growth, by Google</a:t>
            </a:r>
          </a:p>
          <a:p>
            <a:pPr marL="457200" indent="-457200">
              <a:buAutoNum type="arabicPeriod"/>
            </a:pPr>
            <a:r>
              <a:rPr lang="en-GB" dirty="0">
                <a:solidFill>
                  <a:srgbClr val="00B0F0"/>
                </a:solidFill>
              </a:rPr>
              <a:t>Ionic: </a:t>
            </a:r>
            <a:r>
              <a:rPr lang="en-GB" dirty="0"/>
              <a:t>Free</a:t>
            </a:r>
            <a:r>
              <a:rPr lang="en-GB" dirty="0">
                <a:solidFill>
                  <a:srgbClr val="00B0F0"/>
                </a:solidFill>
              </a:rPr>
              <a:t> </a:t>
            </a:r>
            <a:r>
              <a:rPr lang="en-US" b="0" i="0" dirty="0">
                <a:solidFill>
                  <a:srgbClr val="333333"/>
                </a:solidFill>
                <a:effectLst/>
              </a:rPr>
              <a:t>and open-source framework. Developed by MIT</a:t>
            </a:r>
            <a:endParaRPr lang="en-GB" dirty="0">
              <a:solidFill>
                <a:srgbClr val="00B0F0"/>
              </a:solidFill>
            </a:endParaRPr>
          </a:p>
          <a:p>
            <a:pPr marL="457200" indent="-457200">
              <a:buAutoNum type="arabicPeriod"/>
            </a:pPr>
            <a:r>
              <a:rPr lang="en-GB" dirty="0">
                <a:solidFill>
                  <a:srgbClr val="00B0F0"/>
                </a:solidFill>
              </a:rPr>
              <a:t>PhoneGap: </a:t>
            </a:r>
            <a:r>
              <a:rPr lang="en-GB" b="0" i="0" dirty="0">
                <a:solidFill>
                  <a:srgbClr val="333333"/>
                </a:solidFill>
                <a:effectLst/>
              </a:rPr>
              <a:t>Developed by Adobe</a:t>
            </a:r>
            <a:endParaRPr lang="en-GB" dirty="0">
              <a:solidFill>
                <a:srgbClr val="00B0F0"/>
              </a:solidFill>
            </a:endParaRPr>
          </a:p>
          <a:p>
            <a:pPr marL="457200" indent="-457200">
              <a:buAutoNum type="arabicPeriod"/>
            </a:pPr>
            <a:r>
              <a:rPr lang="en-GB" dirty="0">
                <a:solidFill>
                  <a:srgbClr val="00B0F0"/>
                </a:solidFill>
              </a:rPr>
              <a:t>Xamarin:</a:t>
            </a:r>
            <a:r>
              <a:rPr lang="en-US" dirty="0"/>
              <a:t>Owned by Microsoft, Xamarin first came to use in May 2011</a:t>
            </a:r>
            <a:endParaRPr lang="en-GB" dirty="0"/>
          </a:p>
          <a:p>
            <a:pPr marL="457200" indent="-457200">
              <a:buAutoNum type="arabicPeriod"/>
            </a:pPr>
            <a:r>
              <a:rPr lang="en-GB" dirty="0" err="1">
                <a:solidFill>
                  <a:srgbClr val="00B0F0"/>
                </a:solidFill>
              </a:rPr>
              <a:t>Swiftic</a:t>
            </a:r>
            <a:r>
              <a:rPr lang="en-GB" dirty="0">
                <a:solidFill>
                  <a:srgbClr val="00B0F0"/>
                </a:solidFill>
              </a:rPr>
              <a:t>: </a:t>
            </a:r>
            <a:r>
              <a:rPr lang="en-GB" b="0" i="0" dirty="0">
                <a:solidFill>
                  <a:srgbClr val="333333"/>
                </a:solidFill>
                <a:effectLst/>
                <a:latin typeface="proxima-nova-n6"/>
              </a:rPr>
              <a:t>DIY app creation platform</a:t>
            </a:r>
            <a:endParaRPr lang="en-GB" dirty="0">
              <a:solidFill>
                <a:srgbClr val="00B0F0"/>
              </a:solidFill>
            </a:endParaRPr>
          </a:p>
        </p:txBody>
      </p:sp>
      <p:sp>
        <p:nvSpPr>
          <p:cNvPr id="10" name="TextBox 9">
            <a:extLst>
              <a:ext uri="{FF2B5EF4-FFF2-40B4-BE49-F238E27FC236}">
                <a16:creationId xmlns:a16="http://schemas.microsoft.com/office/drawing/2014/main" id="{CD30EA07-AF6A-31E6-44F0-C0CE2137D839}"/>
              </a:ext>
            </a:extLst>
          </p:cNvPr>
          <p:cNvSpPr txBox="1"/>
          <p:nvPr/>
        </p:nvSpPr>
        <p:spPr>
          <a:xfrm>
            <a:off x="609599" y="5590685"/>
            <a:ext cx="11166157" cy="523220"/>
          </a:xfrm>
          <a:prstGeom prst="rect">
            <a:avLst/>
          </a:prstGeom>
          <a:noFill/>
        </p:spPr>
        <p:txBody>
          <a:bodyPr wrap="square">
            <a:spAutoFit/>
          </a:bodyPr>
          <a:lstStyle/>
          <a:p>
            <a:pPr marL="0" indent="0">
              <a:buNone/>
            </a:pPr>
            <a:r>
              <a:rPr lang="en-US" sz="2800" b="1" dirty="0">
                <a:solidFill>
                  <a:srgbClr val="C00000"/>
                </a:solidFill>
              </a:rPr>
              <a:t>L1Q2: What other hybrid frameworks do you know besides the above?</a:t>
            </a:r>
            <a:endParaRPr lang="en-GB" sz="2800" b="1" dirty="0">
              <a:solidFill>
                <a:srgbClr val="C00000"/>
              </a:solidFill>
            </a:endParaRPr>
          </a:p>
        </p:txBody>
      </p:sp>
    </p:spTree>
    <p:extLst>
      <p:ext uri="{BB962C8B-B14F-4D97-AF65-F5344CB8AC3E}">
        <p14:creationId xmlns:p14="http://schemas.microsoft.com/office/powerpoint/2010/main" val="698022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0CA365-BF28-A4ED-1D81-5B06F2F55B0C}"/>
              </a:ext>
            </a:extLst>
          </p:cNvPr>
          <p:cNvSpPr>
            <a:spLocks noGrp="1"/>
          </p:cNvSpPr>
          <p:nvPr>
            <p:ph type="title"/>
          </p:nvPr>
        </p:nvSpPr>
        <p:spPr>
          <a:xfrm>
            <a:off x="609601" y="274638"/>
            <a:ext cx="10972800" cy="1143000"/>
          </a:xfrm>
        </p:spPr>
        <p:txBody>
          <a:bodyPr anchor="ctr">
            <a:normAutofit/>
          </a:bodyPr>
          <a:lstStyle/>
          <a:p>
            <a:pPr marL="0" indent="0">
              <a:lnSpc>
                <a:spcPct val="90000"/>
              </a:lnSpc>
              <a:buNone/>
            </a:pPr>
            <a:r>
              <a:rPr lang="en-GB" sz="2100"/>
              <a:t>Hybrid vs. cross-platform </a:t>
            </a:r>
          </a:p>
          <a:p>
            <a:pPr marL="0" indent="0">
              <a:lnSpc>
                <a:spcPct val="90000"/>
              </a:lnSpc>
              <a:buNone/>
            </a:pPr>
            <a:r>
              <a:rPr lang="en-US" sz="2100"/>
              <a:t>The central theme connecting hybrid and cross-platform app development frameworks is code shareability/single codebase , they achieve this in a totally different way!</a:t>
            </a:r>
          </a:p>
          <a:p>
            <a:pPr marL="0" indent="0">
              <a:lnSpc>
                <a:spcPct val="90000"/>
              </a:lnSpc>
              <a:buNone/>
            </a:pPr>
            <a:endParaRPr lang="en-GB" sz="2100"/>
          </a:p>
        </p:txBody>
      </p:sp>
      <p:pic>
        <p:nvPicPr>
          <p:cNvPr id="5" name="Picture 4" descr="A close-up of a text&#10;&#10;Description automatically generated">
            <a:extLst>
              <a:ext uri="{FF2B5EF4-FFF2-40B4-BE49-F238E27FC236}">
                <a16:creationId xmlns:a16="http://schemas.microsoft.com/office/drawing/2014/main" id="{C82D203C-7CF1-DD8D-243F-DF671B9CA366}"/>
              </a:ext>
            </a:extLst>
          </p:cNvPr>
          <p:cNvPicPr>
            <a:picLocks noChangeAspect="1"/>
          </p:cNvPicPr>
          <p:nvPr/>
        </p:nvPicPr>
        <p:blipFill>
          <a:blip r:embed="rId2"/>
          <a:stretch>
            <a:fillRect/>
          </a:stretch>
        </p:blipFill>
        <p:spPr>
          <a:xfrm>
            <a:off x="609599" y="1074915"/>
            <a:ext cx="10972800" cy="4708170"/>
          </a:xfrm>
          <a:prstGeom prst="rect">
            <a:avLst/>
          </a:prstGeom>
          <a:noFill/>
        </p:spPr>
      </p:pic>
      <p:sp>
        <p:nvSpPr>
          <p:cNvPr id="6" name="TextBox 5">
            <a:extLst>
              <a:ext uri="{FF2B5EF4-FFF2-40B4-BE49-F238E27FC236}">
                <a16:creationId xmlns:a16="http://schemas.microsoft.com/office/drawing/2014/main" id="{B9CB8227-6825-0B34-1102-7491191A14B6}"/>
              </a:ext>
            </a:extLst>
          </p:cNvPr>
          <p:cNvSpPr txBox="1"/>
          <p:nvPr/>
        </p:nvSpPr>
        <p:spPr>
          <a:xfrm>
            <a:off x="4645478" y="5783085"/>
            <a:ext cx="3551465" cy="415498"/>
          </a:xfrm>
          <a:prstGeom prst="rect">
            <a:avLst/>
          </a:prstGeom>
          <a:noFill/>
        </p:spPr>
        <p:txBody>
          <a:bodyPr wrap="square" rtlCol="0">
            <a:spAutoFit/>
          </a:bodyPr>
          <a:lstStyle/>
          <a:p>
            <a:r>
              <a:rPr lang="en-US" dirty="0"/>
              <a:t>Further reading </a:t>
            </a:r>
            <a:r>
              <a:rPr lang="en-US" dirty="0">
                <a:hlinkClick r:id="rId3"/>
              </a:rPr>
              <a:t>here </a:t>
            </a:r>
            <a:endParaRPr lang="en-GB" dirty="0"/>
          </a:p>
        </p:txBody>
      </p:sp>
    </p:spTree>
    <p:extLst>
      <p:ext uri="{BB962C8B-B14F-4D97-AF65-F5344CB8AC3E}">
        <p14:creationId xmlns:p14="http://schemas.microsoft.com/office/powerpoint/2010/main" val="1766166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069788-7387-0D4F-F5BF-7FCEC2A70968}"/>
              </a:ext>
            </a:extLst>
          </p:cNvPr>
          <p:cNvSpPr>
            <a:spLocks noGrp="1"/>
          </p:cNvSpPr>
          <p:nvPr>
            <p:ph idx="1"/>
          </p:nvPr>
        </p:nvSpPr>
        <p:spPr>
          <a:xfrm>
            <a:off x="609600" y="383458"/>
            <a:ext cx="10972800" cy="3460955"/>
          </a:xfrm>
        </p:spPr>
        <p:txBody>
          <a:bodyPr>
            <a:normAutofit/>
          </a:bodyPr>
          <a:lstStyle/>
          <a:p>
            <a:r>
              <a:rPr lang="en-US" dirty="0"/>
              <a:t>Truly Cross Platform: </a:t>
            </a:r>
          </a:p>
          <a:p>
            <a:pPr marL="0" indent="0">
              <a:buNone/>
            </a:pPr>
            <a:r>
              <a:rPr lang="en-US" dirty="0"/>
              <a:t>Facebook React Native and Google Flutter.</a:t>
            </a:r>
          </a:p>
          <a:p>
            <a:pPr marL="0" indent="0">
              <a:buNone/>
            </a:pPr>
            <a:r>
              <a:rPr lang="en-US" b="1" dirty="0">
                <a:solidFill>
                  <a:srgbClr val="C00000"/>
                </a:solidFill>
              </a:rPr>
              <a:t>L1Q3: Compare React Native to Flutter highlighting advantages and limitations of each</a:t>
            </a:r>
            <a:endParaRPr lang="en-US" dirty="0"/>
          </a:p>
          <a:p>
            <a:pPr marL="0" indent="0">
              <a:buNone/>
            </a:pPr>
            <a:endParaRPr lang="en-GB" dirty="0"/>
          </a:p>
        </p:txBody>
      </p:sp>
      <p:grpSp>
        <p:nvGrpSpPr>
          <p:cNvPr id="4" name="Group 3">
            <a:extLst>
              <a:ext uri="{FF2B5EF4-FFF2-40B4-BE49-F238E27FC236}">
                <a16:creationId xmlns:a16="http://schemas.microsoft.com/office/drawing/2014/main" id="{61CB6277-F310-922B-F5B5-4C14DB5F8470}"/>
              </a:ext>
            </a:extLst>
          </p:cNvPr>
          <p:cNvGrpSpPr/>
          <p:nvPr/>
        </p:nvGrpSpPr>
        <p:grpSpPr>
          <a:xfrm>
            <a:off x="245193" y="2995410"/>
            <a:ext cx="11946807" cy="2963606"/>
            <a:chOff x="245193" y="3162558"/>
            <a:chExt cx="11946807" cy="2963606"/>
          </a:xfrm>
        </p:grpSpPr>
        <p:pic>
          <p:nvPicPr>
            <p:cNvPr id="1026" name="Picture 2" descr="React Native vs Flutter: which one should you use? - everyday.codes">
              <a:extLst>
                <a:ext uri="{FF2B5EF4-FFF2-40B4-BE49-F238E27FC236}">
                  <a16:creationId xmlns:a16="http://schemas.microsoft.com/office/drawing/2014/main" id="{F71FA804-4EE4-B50C-0D85-7F97E99BB1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6590" y="3162558"/>
              <a:ext cx="4445410" cy="296360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E2C2312E-2A16-02B8-962C-D10EB40BF4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193" y="3643826"/>
              <a:ext cx="6548898" cy="248233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971483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C046D-A617-C840-3423-78F4E4CA3138}"/>
              </a:ext>
            </a:extLst>
          </p:cNvPr>
          <p:cNvSpPr>
            <a:spLocks noGrp="1"/>
          </p:cNvSpPr>
          <p:nvPr>
            <p:ph type="title"/>
          </p:nvPr>
        </p:nvSpPr>
        <p:spPr/>
        <p:txBody>
          <a:bodyPr/>
          <a:lstStyle/>
          <a:p>
            <a:r>
              <a:rPr lang="en-US" dirty="0"/>
              <a:t>Features of Flutter Framework</a:t>
            </a:r>
            <a:endParaRPr lang="en-GB" dirty="0"/>
          </a:p>
        </p:txBody>
      </p:sp>
      <p:sp>
        <p:nvSpPr>
          <p:cNvPr id="3" name="Content Placeholder 2">
            <a:extLst>
              <a:ext uri="{FF2B5EF4-FFF2-40B4-BE49-F238E27FC236}">
                <a16:creationId xmlns:a16="http://schemas.microsoft.com/office/drawing/2014/main" id="{7209C658-B857-E8AD-EEF7-2F162F4FA57D}"/>
              </a:ext>
            </a:extLst>
          </p:cNvPr>
          <p:cNvSpPr>
            <a:spLocks noGrp="1"/>
          </p:cNvSpPr>
          <p:nvPr>
            <p:ph idx="1"/>
          </p:nvPr>
        </p:nvSpPr>
        <p:spPr/>
        <p:txBody>
          <a:bodyPr/>
          <a:lstStyle/>
          <a:p>
            <a:pPr algn="l">
              <a:buFont typeface="Wingdings" panose="05000000000000000000" pitchFamily="2" charset="2"/>
              <a:buChar char="v"/>
            </a:pPr>
            <a:r>
              <a:rPr lang="en-US" b="0" i="0" dirty="0">
                <a:solidFill>
                  <a:srgbClr val="374151"/>
                </a:solidFill>
                <a:effectLst/>
                <a:latin typeface="Droid Serif"/>
              </a:rPr>
              <a:t>Hot reload</a:t>
            </a:r>
          </a:p>
          <a:p>
            <a:pPr algn="l">
              <a:buFont typeface="Wingdings" panose="05000000000000000000" pitchFamily="2" charset="2"/>
              <a:buChar char="v"/>
            </a:pPr>
            <a:r>
              <a:rPr lang="en-US" b="0" i="0" dirty="0">
                <a:solidFill>
                  <a:srgbClr val="374151"/>
                </a:solidFill>
                <a:effectLst/>
                <a:latin typeface="Droid Serif"/>
              </a:rPr>
              <a:t>Cross-platform development</a:t>
            </a:r>
          </a:p>
          <a:p>
            <a:pPr algn="l">
              <a:buFont typeface="Wingdings" panose="05000000000000000000" pitchFamily="2" charset="2"/>
              <a:buChar char="v"/>
            </a:pPr>
            <a:r>
              <a:rPr lang="en-US" b="0" i="0" dirty="0">
                <a:solidFill>
                  <a:srgbClr val="374151"/>
                </a:solidFill>
                <a:effectLst/>
                <a:latin typeface="Droid Serif"/>
              </a:rPr>
              <a:t>Widget library</a:t>
            </a:r>
          </a:p>
          <a:p>
            <a:pPr algn="l">
              <a:buFont typeface="Wingdings" panose="05000000000000000000" pitchFamily="2" charset="2"/>
              <a:buChar char="v"/>
            </a:pPr>
            <a:r>
              <a:rPr lang="en-US" b="0" i="0" dirty="0">
                <a:solidFill>
                  <a:srgbClr val="374151"/>
                </a:solidFill>
                <a:effectLst/>
                <a:latin typeface="Droid Serif"/>
              </a:rPr>
              <a:t>Native performance</a:t>
            </a:r>
          </a:p>
          <a:p>
            <a:pPr algn="l">
              <a:buFont typeface="Wingdings" panose="05000000000000000000" pitchFamily="2" charset="2"/>
              <a:buChar char="v"/>
            </a:pPr>
            <a:r>
              <a:rPr lang="en-US" b="0" i="0" dirty="0">
                <a:solidFill>
                  <a:srgbClr val="374151"/>
                </a:solidFill>
                <a:effectLst/>
                <a:latin typeface="Droid Serif"/>
              </a:rPr>
              <a:t>Open-source</a:t>
            </a:r>
          </a:p>
          <a:p>
            <a:endParaRPr lang="en-GB" dirty="0"/>
          </a:p>
        </p:txBody>
      </p:sp>
      <p:pic>
        <p:nvPicPr>
          <p:cNvPr id="5" name="Picture 4">
            <a:extLst>
              <a:ext uri="{FF2B5EF4-FFF2-40B4-BE49-F238E27FC236}">
                <a16:creationId xmlns:a16="http://schemas.microsoft.com/office/drawing/2014/main" id="{E8414869-8B81-54F1-3639-F073E33AB807}"/>
              </a:ext>
            </a:extLst>
          </p:cNvPr>
          <p:cNvPicPr>
            <a:picLocks noChangeAspect="1"/>
          </p:cNvPicPr>
          <p:nvPr/>
        </p:nvPicPr>
        <p:blipFill>
          <a:blip r:embed="rId2"/>
          <a:stretch>
            <a:fillRect/>
          </a:stretch>
        </p:blipFill>
        <p:spPr>
          <a:xfrm>
            <a:off x="6840902" y="1913267"/>
            <a:ext cx="5018186" cy="3031465"/>
          </a:xfrm>
          <a:prstGeom prst="rect">
            <a:avLst/>
          </a:prstGeom>
        </p:spPr>
      </p:pic>
    </p:spTree>
    <p:extLst>
      <p:ext uri="{BB962C8B-B14F-4D97-AF65-F5344CB8AC3E}">
        <p14:creationId xmlns:p14="http://schemas.microsoft.com/office/powerpoint/2010/main" val="8710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551AF6-2E90-AB44-0F2C-60BB4D3ABF02}"/>
              </a:ext>
            </a:extLst>
          </p:cNvPr>
          <p:cNvSpPr>
            <a:spLocks noGrp="1"/>
          </p:cNvSpPr>
          <p:nvPr>
            <p:ph idx="1"/>
          </p:nvPr>
        </p:nvSpPr>
        <p:spPr>
          <a:xfrm>
            <a:off x="403123" y="226143"/>
            <a:ext cx="11179278" cy="5900022"/>
          </a:xfrm>
        </p:spPr>
        <p:txBody>
          <a:bodyPr>
            <a:normAutofit fontScale="92500" lnSpcReduction="10000"/>
          </a:bodyPr>
          <a:lstStyle/>
          <a:p>
            <a:pPr marL="1143000" indent="-1143000">
              <a:buFont typeface="+mj-lt"/>
              <a:buAutoNum type="arabicParenR"/>
            </a:pPr>
            <a:r>
              <a:rPr lang="en-US" sz="3200" b="1" dirty="0">
                <a:solidFill>
                  <a:srgbClr val="000000"/>
                </a:solidFill>
                <a:latin typeface="var(--font-family-heading-lesson-markdown)"/>
              </a:rPr>
              <a:t>Hot reload </a:t>
            </a:r>
            <a:r>
              <a:rPr lang="en-US" sz="3200" b="0" i="0" dirty="0">
                <a:solidFill>
                  <a:srgbClr val="374151"/>
                </a:solidFill>
                <a:effectLst/>
                <a:latin typeface="Droid Serif"/>
              </a:rPr>
              <a:t>makes it possible to see the changes in the code instantly reflected on the UI. Speeding correction of errors.</a:t>
            </a:r>
          </a:p>
          <a:p>
            <a:pPr marL="1143000" indent="-1143000" algn="l">
              <a:buFont typeface="+mj-lt"/>
              <a:buAutoNum type="arabicParenR"/>
            </a:pPr>
            <a:r>
              <a:rPr lang="en-US" sz="3200" b="1" i="0" dirty="0">
                <a:solidFill>
                  <a:srgbClr val="000000"/>
                </a:solidFill>
                <a:effectLst/>
                <a:latin typeface="var(--font-family-heading-lesson-markdown)"/>
              </a:rPr>
              <a:t>Cross-platform development </a:t>
            </a:r>
            <a:r>
              <a:rPr lang="en-US" sz="3200" i="0" dirty="0">
                <a:solidFill>
                  <a:srgbClr val="000000"/>
                </a:solidFill>
                <a:effectLst/>
                <a:latin typeface="var(--font-family-heading-lesson-markdown)"/>
              </a:rPr>
              <a:t>s</a:t>
            </a:r>
            <a:r>
              <a:rPr lang="en-US" sz="3200" b="0" i="0" dirty="0">
                <a:solidFill>
                  <a:srgbClr val="000000"/>
                </a:solidFill>
                <a:effectLst/>
                <a:latin typeface="var(--font-family-body-lesson-markdown,&quot;Droid Serif&quot;)"/>
              </a:rPr>
              <a:t>ingle codebase for Android, </a:t>
            </a:r>
            <a:r>
              <a:rPr lang="en-US" sz="3200" b="0" i="0" dirty="0" err="1">
                <a:solidFill>
                  <a:srgbClr val="000000"/>
                </a:solidFill>
                <a:effectLst/>
                <a:latin typeface="var(--font-family-body-lesson-markdown,&quot;Droid Serif&quot;)"/>
              </a:rPr>
              <a:t>IoS</a:t>
            </a:r>
            <a:r>
              <a:rPr lang="en-US" sz="3200" b="0" i="0" dirty="0">
                <a:solidFill>
                  <a:srgbClr val="000000"/>
                </a:solidFill>
                <a:effectLst/>
                <a:latin typeface="var(--font-family-body-lesson-markdown,&quot;Droid Serif&quot;)"/>
              </a:rPr>
              <a:t> Web, Mac and Windows</a:t>
            </a:r>
          </a:p>
          <a:p>
            <a:pPr marL="1143000" indent="-1143000">
              <a:buFont typeface="+mj-lt"/>
              <a:buAutoNum type="arabicParenR"/>
            </a:pPr>
            <a:r>
              <a:rPr lang="en-GB" sz="3200" b="1" i="0" dirty="0">
                <a:effectLst/>
                <a:latin typeface="var(--font-family-heading-lesson-markdown)"/>
              </a:rPr>
              <a:t>Widget library </a:t>
            </a:r>
            <a:r>
              <a:rPr lang="en-GB" sz="3200" b="1" i="0" dirty="0">
                <a:solidFill>
                  <a:srgbClr val="00B0F0"/>
                </a:solidFill>
                <a:effectLst/>
                <a:latin typeface="var(--font-family-heading-lesson-markdown)"/>
              </a:rPr>
              <a:t>everything</a:t>
            </a:r>
            <a:r>
              <a:rPr lang="en-GB" sz="3200" b="1" i="0" dirty="0">
                <a:effectLst/>
                <a:latin typeface="var(--font-family-heading-lesson-markdown)"/>
              </a:rPr>
              <a:t> </a:t>
            </a:r>
            <a:r>
              <a:rPr lang="en-GB" sz="3200" i="0" dirty="0">
                <a:effectLst/>
                <a:latin typeface="var(--font-family-heading-lesson-markdown)"/>
              </a:rPr>
              <a:t>in flutter is a widget!! </a:t>
            </a:r>
            <a:r>
              <a:rPr lang="en-US" sz="3200" dirty="0">
                <a:solidFill>
                  <a:srgbClr val="000000"/>
                </a:solidFill>
                <a:latin typeface="var(--font-family-body-lesson-markdown,&quot;Droid Serif&quot;)"/>
              </a:rPr>
              <a:t>Cupertino pack and Material Design are inbuilt. We can create very complex widgets</a:t>
            </a:r>
          </a:p>
          <a:p>
            <a:pPr marL="1143000" indent="-1143000" algn="l">
              <a:buFont typeface="+mj-lt"/>
              <a:buAutoNum type="arabicParenR"/>
            </a:pPr>
            <a:r>
              <a:rPr lang="en-US" sz="3200" b="1" i="0" dirty="0">
                <a:effectLst/>
                <a:latin typeface="var(--font-family-heading-lesson-markdown)"/>
              </a:rPr>
              <a:t>Native Performance </a:t>
            </a:r>
            <a:r>
              <a:rPr lang="en-US" sz="3200" b="0" i="0" dirty="0">
                <a:solidFill>
                  <a:srgbClr val="374151"/>
                </a:solidFill>
                <a:effectLst/>
                <a:latin typeface="Droid Serif"/>
              </a:rPr>
              <a:t>utilize native features such as camera and geolocation giving the same performance as native apps.</a:t>
            </a:r>
          </a:p>
          <a:p>
            <a:pPr marL="1143000" indent="-1143000">
              <a:buFont typeface="+mj-lt"/>
              <a:buAutoNum type="arabicParenR"/>
            </a:pPr>
            <a:r>
              <a:rPr lang="en-GB" sz="3200" b="1" i="0" dirty="0">
                <a:effectLst/>
                <a:latin typeface="var(--font-family-heading-lesson-markdown)"/>
              </a:rPr>
              <a:t>Open-source</a:t>
            </a:r>
            <a:r>
              <a:rPr lang="en-US" sz="3200" dirty="0">
                <a:solidFill>
                  <a:srgbClr val="374151"/>
                </a:solidFill>
                <a:latin typeface="Droid Serif"/>
              </a:rPr>
              <a:t> thus</a:t>
            </a:r>
            <a:r>
              <a:rPr lang="en-US" sz="3200" b="0" i="0" dirty="0">
                <a:solidFill>
                  <a:srgbClr val="374151"/>
                </a:solidFill>
                <a:effectLst/>
                <a:latin typeface="Droid Serif"/>
              </a:rPr>
              <a:t> a community of Flutter enthusiasts who come together to answer questions related to Flutter and discuss it. Flutter is free of cost and has detailed documentation and communities available online</a:t>
            </a:r>
            <a:endParaRPr lang="en-GB" sz="2000" dirty="0"/>
          </a:p>
        </p:txBody>
      </p:sp>
    </p:spTree>
    <p:extLst>
      <p:ext uri="{BB962C8B-B14F-4D97-AF65-F5344CB8AC3E}">
        <p14:creationId xmlns:p14="http://schemas.microsoft.com/office/powerpoint/2010/main" val="2923918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08577-D0A8-D2AF-AC4B-5897E8169BBC}"/>
              </a:ext>
            </a:extLst>
          </p:cNvPr>
          <p:cNvSpPr>
            <a:spLocks noGrp="1"/>
          </p:cNvSpPr>
          <p:nvPr>
            <p:ph type="title"/>
          </p:nvPr>
        </p:nvSpPr>
        <p:spPr/>
        <p:txBody>
          <a:bodyPr/>
          <a:lstStyle/>
          <a:p>
            <a:r>
              <a:rPr lang="en-US" dirty="0"/>
              <a:t>Another Language??! Why</a:t>
            </a:r>
            <a:endParaRPr lang="en-GB" dirty="0"/>
          </a:p>
        </p:txBody>
      </p:sp>
      <p:sp>
        <p:nvSpPr>
          <p:cNvPr id="3" name="Content Placeholder 2">
            <a:extLst>
              <a:ext uri="{FF2B5EF4-FFF2-40B4-BE49-F238E27FC236}">
                <a16:creationId xmlns:a16="http://schemas.microsoft.com/office/drawing/2014/main" id="{98A2855D-A84E-5E1F-8792-39704964DEE6}"/>
              </a:ext>
            </a:extLst>
          </p:cNvPr>
          <p:cNvSpPr>
            <a:spLocks noGrp="1"/>
          </p:cNvSpPr>
          <p:nvPr>
            <p:ph idx="1"/>
          </p:nvPr>
        </p:nvSpPr>
        <p:spPr>
          <a:xfrm>
            <a:off x="609601" y="1209369"/>
            <a:ext cx="10972800" cy="4916796"/>
          </a:xfrm>
        </p:spPr>
        <p:txBody>
          <a:bodyPr>
            <a:normAutofit fontScale="92500" lnSpcReduction="20000"/>
          </a:bodyPr>
          <a:lstStyle/>
          <a:p>
            <a:r>
              <a:rPr lang="en-US" dirty="0"/>
              <a:t>Why not Java, Kotlin </a:t>
            </a:r>
            <a:r>
              <a:rPr lang="en-US" dirty="0" err="1"/>
              <a:t>etc</a:t>
            </a:r>
            <a:r>
              <a:rPr lang="en-US" dirty="0"/>
              <a:t>??</a:t>
            </a:r>
          </a:p>
          <a:p>
            <a:r>
              <a:rPr lang="en-US" dirty="0"/>
              <a:t>Dart was chosen for a very speciﬁc feature set that gives Flutter an edge over existing languages</a:t>
            </a:r>
          </a:p>
          <a:p>
            <a:pPr marL="0" indent="0">
              <a:buNone/>
            </a:pPr>
            <a:r>
              <a:rPr lang="en-US" dirty="0"/>
              <a:t>1.</a:t>
            </a:r>
            <a:r>
              <a:rPr lang="en-US" dirty="0">
                <a:solidFill>
                  <a:srgbClr val="00B0F0"/>
                </a:solidFill>
              </a:rPr>
              <a:t>Easier to learn: </a:t>
            </a:r>
            <a:r>
              <a:rPr lang="en-US" dirty="0"/>
              <a:t>Dart does not require an exorbitant time required to learn.</a:t>
            </a:r>
          </a:p>
          <a:p>
            <a:pPr marL="0" indent="0">
              <a:buNone/>
            </a:pPr>
            <a:r>
              <a:rPr lang="en-US" dirty="0"/>
              <a:t> Developers can focus on the Flutter framework instead of spending time adapting their existing knowledge to ﬁt the new language and semantic constraints.</a:t>
            </a:r>
            <a:endParaRPr lang="en-GB" dirty="0"/>
          </a:p>
        </p:txBody>
      </p:sp>
    </p:spTree>
    <p:extLst>
      <p:ext uri="{BB962C8B-B14F-4D97-AF65-F5344CB8AC3E}">
        <p14:creationId xmlns:p14="http://schemas.microsoft.com/office/powerpoint/2010/main" val="2815348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48FA9F-98A0-D61B-DE89-1643D09691EA}"/>
              </a:ext>
            </a:extLst>
          </p:cNvPr>
          <p:cNvSpPr>
            <a:spLocks noGrp="1"/>
          </p:cNvSpPr>
          <p:nvPr>
            <p:ph idx="1"/>
          </p:nvPr>
        </p:nvSpPr>
        <p:spPr>
          <a:xfrm>
            <a:off x="501445" y="580103"/>
            <a:ext cx="11080956" cy="5546061"/>
          </a:xfrm>
        </p:spPr>
        <p:txBody>
          <a:bodyPr>
            <a:normAutofit/>
          </a:bodyPr>
          <a:lstStyle/>
          <a:p>
            <a:pPr marL="0" indent="0">
              <a:buNone/>
            </a:pPr>
            <a:r>
              <a:rPr lang="en-US" sz="2800" dirty="0"/>
              <a:t>2. </a:t>
            </a:r>
            <a:r>
              <a:rPr lang="en-US" sz="2800" dirty="0">
                <a:solidFill>
                  <a:srgbClr val="00B0F0"/>
                </a:solidFill>
              </a:rPr>
              <a:t>Can be Ahead-Of-Time (AOT) or Just-In Time (JIT) compiled according to need: </a:t>
            </a:r>
            <a:r>
              <a:rPr lang="en-US" sz="2800" dirty="0"/>
              <a:t>AOT compilation eliminates the need for code to be compiled every time it is run, leading to faster startup times. This is eﬀective when apps are installed on a user’s device, leading to much quicker app launches.</a:t>
            </a:r>
          </a:p>
          <a:p>
            <a:pPr marL="0" indent="0">
              <a:buNone/>
            </a:pPr>
            <a:endParaRPr lang="en-US" sz="2800" dirty="0"/>
          </a:p>
          <a:p>
            <a:r>
              <a:rPr lang="en-US" sz="2800" dirty="0"/>
              <a:t> AOT, however, leads to slower development times when the code is changed or updated. This is when JIT compilation makes for a pleasant development experience oﬀering easy and quick code changes. Dart uses </a:t>
            </a:r>
            <a:r>
              <a:rPr lang="en-US" sz="2800" dirty="0" err="1"/>
              <a:t>JITin</a:t>
            </a:r>
            <a:r>
              <a:rPr lang="en-US" sz="2800" dirty="0"/>
              <a:t> development and AOT in production apps, the best of both worlds. </a:t>
            </a:r>
          </a:p>
          <a:p>
            <a:pPr marL="0" indent="0">
              <a:buNone/>
            </a:pPr>
            <a:r>
              <a:rPr lang="en-US" sz="2800" dirty="0"/>
              <a:t>The JIT technique allows for the stateful hot reload Flutter is famous for.</a:t>
            </a:r>
            <a:endParaRPr lang="en-GB" sz="2800" dirty="0"/>
          </a:p>
        </p:txBody>
      </p:sp>
    </p:spTree>
    <p:extLst>
      <p:ext uri="{BB962C8B-B14F-4D97-AF65-F5344CB8AC3E}">
        <p14:creationId xmlns:p14="http://schemas.microsoft.com/office/powerpoint/2010/main" val="2092157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24A1C7-EAC1-4598-67E1-53A0CF75FA64}"/>
              </a:ext>
            </a:extLst>
          </p:cNvPr>
          <p:cNvSpPr>
            <a:spLocks noGrp="1"/>
          </p:cNvSpPr>
          <p:nvPr>
            <p:ph idx="1"/>
          </p:nvPr>
        </p:nvSpPr>
        <p:spPr>
          <a:xfrm>
            <a:off x="609601" y="1600201"/>
            <a:ext cx="11307096" cy="4525963"/>
          </a:xfrm>
        </p:spPr>
        <p:txBody>
          <a:bodyPr/>
          <a:lstStyle/>
          <a:p>
            <a:pPr marL="0" indent="0">
              <a:buNone/>
            </a:pPr>
            <a:r>
              <a:rPr lang="en-US" dirty="0"/>
              <a:t>3.</a:t>
            </a:r>
            <a:r>
              <a:rPr lang="en-US" dirty="0">
                <a:solidFill>
                  <a:srgbClr val="00B0F0"/>
                </a:solidFill>
              </a:rPr>
              <a:t>Eliminates the need for a declarative language similar </a:t>
            </a:r>
          </a:p>
          <a:p>
            <a:pPr marL="0" indent="0">
              <a:buNone/>
            </a:pPr>
            <a:r>
              <a:rPr lang="en-US" dirty="0">
                <a:solidFill>
                  <a:srgbClr val="00B0F0"/>
                </a:solidFill>
              </a:rPr>
              <a:t>to XML (Android)or JSX (React):</a:t>
            </a:r>
          </a:p>
          <a:p>
            <a:pPr marL="0" indent="0">
              <a:buNone/>
            </a:pPr>
            <a:r>
              <a:rPr lang="en-US" dirty="0"/>
              <a:t>Declarative layout languages often add a lot of code to the application by deﬁning a separate language for UI and code. For example, in Android.</a:t>
            </a:r>
          </a:p>
          <a:p>
            <a:pPr marL="0" indent="0">
              <a:buNone/>
            </a:pPr>
            <a:endParaRPr lang="en-GB" dirty="0"/>
          </a:p>
        </p:txBody>
      </p:sp>
    </p:spTree>
    <p:extLst>
      <p:ext uri="{BB962C8B-B14F-4D97-AF65-F5344CB8AC3E}">
        <p14:creationId xmlns:p14="http://schemas.microsoft.com/office/powerpoint/2010/main" val="3451558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BAA7AE-1DE4-9EEE-8674-ABDA2BB78266}"/>
              </a:ext>
            </a:extLst>
          </p:cNvPr>
          <p:cNvPicPr>
            <a:picLocks noChangeAspect="1"/>
          </p:cNvPicPr>
          <p:nvPr/>
        </p:nvPicPr>
        <p:blipFill>
          <a:blip r:embed="rId2"/>
          <a:stretch>
            <a:fillRect/>
          </a:stretch>
        </p:blipFill>
        <p:spPr>
          <a:xfrm>
            <a:off x="1632450" y="492648"/>
            <a:ext cx="10015084" cy="4738113"/>
          </a:xfrm>
          <a:prstGeom prst="rect">
            <a:avLst/>
          </a:prstGeom>
        </p:spPr>
      </p:pic>
      <p:sp>
        <p:nvSpPr>
          <p:cNvPr id="6" name="TextBox 5">
            <a:extLst>
              <a:ext uri="{FF2B5EF4-FFF2-40B4-BE49-F238E27FC236}">
                <a16:creationId xmlns:a16="http://schemas.microsoft.com/office/drawing/2014/main" id="{5796F8D6-652E-2A43-3C57-11CBD909D9A9}"/>
              </a:ext>
            </a:extLst>
          </p:cNvPr>
          <p:cNvSpPr txBox="1"/>
          <p:nvPr/>
        </p:nvSpPr>
        <p:spPr>
          <a:xfrm>
            <a:off x="4167179" y="5535561"/>
            <a:ext cx="4945626" cy="415498"/>
          </a:xfrm>
          <a:prstGeom prst="rect">
            <a:avLst/>
          </a:prstGeom>
          <a:noFill/>
        </p:spPr>
        <p:txBody>
          <a:bodyPr wrap="square" rtlCol="0">
            <a:spAutoFit/>
          </a:bodyPr>
          <a:lstStyle/>
          <a:p>
            <a:r>
              <a:rPr lang="en-US" b="1" dirty="0"/>
              <a:t>We will learn about Dart in the next lesson</a:t>
            </a:r>
            <a:endParaRPr lang="en-GB" b="1" dirty="0"/>
          </a:p>
        </p:txBody>
      </p:sp>
    </p:spTree>
    <p:extLst>
      <p:ext uri="{BB962C8B-B14F-4D97-AF65-F5344CB8AC3E}">
        <p14:creationId xmlns:p14="http://schemas.microsoft.com/office/powerpoint/2010/main" val="2596673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ED8BE-FACA-38E4-7409-C63091A8A729}"/>
              </a:ext>
            </a:extLst>
          </p:cNvPr>
          <p:cNvSpPr>
            <a:spLocks noGrp="1"/>
          </p:cNvSpPr>
          <p:nvPr>
            <p:ph type="title"/>
          </p:nvPr>
        </p:nvSpPr>
        <p:spPr/>
        <p:txBody>
          <a:bodyPr/>
          <a:lstStyle/>
          <a:p>
            <a:r>
              <a:rPr lang="en-US" dirty="0"/>
              <a:t>IDEs for Flutter Development</a:t>
            </a:r>
            <a:endParaRPr lang="en-GB" dirty="0"/>
          </a:p>
        </p:txBody>
      </p:sp>
      <p:pic>
        <p:nvPicPr>
          <p:cNvPr id="2050" name="Picture 2">
            <a:extLst>
              <a:ext uri="{FF2B5EF4-FFF2-40B4-BE49-F238E27FC236}">
                <a16:creationId xmlns:a16="http://schemas.microsoft.com/office/drawing/2014/main" id="{64F4D595-55EF-87A1-CF55-DAA89E72AE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891" y="1417638"/>
            <a:ext cx="6648450" cy="34004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8E3300F-C467-B932-C9D2-9293FB5B1D4E}"/>
              </a:ext>
            </a:extLst>
          </p:cNvPr>
          <p:cNvSpPr txBox="1"/>
          <p:nvPr/>
        </p:nvSpPr>
        <p:spPr>
          <a:xfrm>
            <a:off x="6282813" y="1720840"/>
            <a:ext cx="5723296" cy="2862322"/>
          </a:xfrm>
          <a:prstGeom prst="rect">
            <a:avLst/>
          </a:prstGeom>
          <a:noFill/>
        </p:spPr>
        <p:txBody>
          <a:bodyPr wrap="square" rtlCol="0">
            <a:spAutoFit/>
          </a:bodyPr>
          <a:lstStyle/>
          <a:p>
            <a:pPr marL="457200" indent="-457200">
              <a:buAutoNum type="arabicPeriod"/>
            </a:pPr>
            <a:r>
              <a:rPr lang="en-US" sz="3600" dirty="0"/>
              <a:t>Android Studio by Google (based on </a:t>
            </a:r>
            <a:r>
              <a:rPr lang="en-US" sz="3600" dirty="0" err="1"/>
              <a:t>InteliJ</a:t>
            </a:r>
            <a:r>
              <a:rPr lang="en-US" sz="3600" dirty="0"/>
              <a:t> IDEA)</a:t>
            </a:r>
          </a:p>
          <a:p>
            <a:pPr marL="457200" indent="-457200">
              <a:buAutoNum type="arabicPeriod"/>
            </a:pPr>
            <a:r>
              <a:rPr lang="en-US" sz="3600" dirty="0" err="1"/>
              <a:t>VSCode</a:t>
            </a:r>
            <a:r>
              <a:rPr lang="en-US" sz="3600" dirty="0"/>
              <a:t> by Microsoft.</a:t>
            </a:r>
          </a:p>
          <a:p>
            <a:pPr marL="457200" indent="-457200">
              <a:buAutoNum type="arabicPeriod"/>
            </a:pPr>
            <a:r>
              <a:rPr lang="en-US" sz="3600" dirty="0" err="1"/>
              <a:t>Intelij</a:t>
            </a:r>
            <a:r>
              <a:rPr lang="en-US" sz="3600" dirty="0"/>
              <a:t> IDEA</a:t>
            </a:r>
          </a:p>
          <a:p>
            <a:pPr marL="457200" indent="-457200">
              <a:buAutoNum type="arabicPeriod"/>
            </a:pPr>
            <a:endParaRPr lang="en-GB" sz="3600" dirty="0"/>
          </a:p>
        </p:txBody>
      </p:sp>
    </p:spTree>
    <p:extLst>
      <p:ext uri="{BB962C8B-B14F-4D97-AF65-F5344CB8AC3E}">
        <p14:creationId xmlns:p14="http://schemas.microsoft.com/office/powerpoint/2010/main" val="2913988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FF36A-E7D1-201D-F9E9-0FFE9C2C68E9}"/>
              </a:ext>
            </a:extLst>
          </p:cNvPr>
          <p:cNvSpPr>
            <a:spLocks noGrp="1"/>
          </p:cNvSpPr>
          <p:nvPr>
            <p:ph type="title"/>
          </p:nvPr>
        </p:nvSpPr>
        <p:spPr/>
        <p:txBody>
          <a:bodyPr/>
          <a:lstStyle/>
          <a:p>
            <a:r>
              <a:rPr lang="en-US" dirty="0"/>
              <a:t>Setting up</a:t>
            </a:r>
            <a:endParaRPr lang="en-GB" dirty="0"/>
          </a:p>
        </p:txBody>
      </p:sp>
      <p:pic>
        <p:nvPicPr>
          <p:cNvPr id="5" name="Picture 4">
            <a:extLst>
              <a:ext uri="{FF2B5EF4-FFF2-40B4-BE49-F238E27FC236}">
                <a16:creationId xmlns:a16="http://schemas.microsoft.com/office/drawing/2014/main" id="{2BC80A13-110E-659D-B45C-B586B71F9F3C}"/>
              </a:ext>
            </a:extLst>
          </p:cNvPr>
          <p:cNvPicPr>
            <a:picLocks noChangeAspect="1"/>
          </p:cNvPicPr>
          <p:nvPr/>
        </p:nvPicPr>
        <p:blipFill>
          <a:blip r:embed="rId2"/>
          <a:stretch>
            <a:fillRect/>
          </a:stretch>
        </p:blipFill>
        <p:spPr>
          <a:xfrm>
            <a:off x="1117821" y="1553497"/>
            <a:ext cx="9569844" cy="4493342"/>
          </a:xfrm>
          <a:prstGeom prst="rect">
            <a:avLst/>
          </a:prstGeom>
        </p:spPr>
      </p:pic>
    </p:spTree>
    <p:extLst>
      <p:ext uri="{BB962C8B-B14F-4D97-AF65-F5344CB8AC3E}">
        <p14:creationId xmlns:p14="http://schemas.microsoft.com/office/powerpoint/2010/main" val="41262449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CEE44-035B-7D42-CABB-2DD230B1A47F}"/>
              </a:ext>
            </a:extLst>
          </p:cNvPr>
          <p:cNvSpPr>
            <a:spLocks noGrp="1"/>
          </p:cNvSpPr>
          <p:nvPr>
            <p:ph type="title"/>
          </p:nvPr>
        </p:nvSpPr>
        <p:spPr/>
        <p:txBody>
          <a:bodyPr/>
          <a:lstStyle/>
          <a:p>
            <a:r>
              <a:rPr lang="en-US" dirty="0"/>
              <a:t>Testing Applications</a:t>
            </a:r>
            <a:endParaRPr lang="en-GB" dirty="0"/>
          </a:p>
        </p:txBody>
      </p:sp>
      <p:sp>
        <p:nvSpPr>
          <p:cNvPr id="3" name="Content Placeholder 2">
            <a:extLst>
              <a:ext uri="{FF2B5EF4-FFF2-40B4-BE49-F238E27FC236}">
                <a16:creationId xmlns:a16="http://schemas.microsoft.com/office/drawing/2014/main" id="{90D596B1-5A33-9189-7DD3-7251BAFD1EFF}"/>
              </a:ext>
            </a:extLst>
          </p:cNvPr>
          <p:cNvSpPr>
            <a:spLocks noGrp="1"/>
          </p:cNvSpPr>
          <p:nvPr>
            <p:ph idx="1"/>
          </p:nvPr>
        </p:nvSpPr>
        <p:spPr/>
        <p:txBody>
          <a:bodyPr/>
          <a:lstStyle/>
          <a:p>
            <a:r>
              <a:rPr lang="en-US" dirty="0"/>
              <a:t>It is recommended that you have a physical Android Phone &amp; USB cable.</a:t>
            </a:r>
          </a:p>
          <a:p>
            <a:pPr marL="0" indent="0">
              <a:buNone/>
            </a:pPr>
            <a:r>
              <a:rPr lang="en-GB" dirty="0"/>
              <a:t>OR </a:t>
            </a:r>
          </a:p>
          <a:p>
            <a:r>
              <a:rPr lang="en-GB" dirty="0"/>
              <a:t>Create an emulator device works well with 16GB RAM and SSD</a:t>
            </a:r>
            <a:endParaRPr lang="en-US" dirty="0"/>
          </a:p>
        </p:txBody>
      </p:sp>
    </p:spTree>
    <p:extLst>
      <p:ext uri="{BB962C8B-B14F-4D97-AF65-F5344CB8AC3E}">
        <p14:creationId xmlns:p14="http://schemas.microsoft.com/office/powerpoint/2010/main" val="973156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722A73-B787-A241-930C-52F5ADBF6973}"/>
              </a:ext>
            </a:extLst>
          </p:cNvPr>
          <p:cNvSpPr>
            <a:spLocks noGrp="1"/>
          </p:cNvSpPr>
          <p:nvPr>
            <p:ph idx="1"/>
          </p:nvPr>
        </p:nvSpPr>
        <p:spPr/>
        <p:txBody>
          <a:bodyPr/>
          <a:lstStyle/>
          <a:p>
            <a:r>
              <a:rPr lang="en-US" dirty="0"/>
              <a:t>IDE (Android Studio, VS Code )</a:t>
            </a:r>
          </a:p>
          <a:p>
            <a:r>
              <a:rPr lang="en-US" dirty="0"/>
              <a:t>Download flutter </a:t>
            </a:r>
            <a:r>
              <a:rPr lang="en-US" dirty="0" err="1"/>
              <a:t>sdk</a:t>
            </a:r>
            <a:endParaRPr lang="en-US" dirty="0"/>
          </a:p>
          <a:p>
            <a:pPr lvl="1"/>
            <a:r>
              <a:rPr lang="en-US" dirty="0"/>
              <a:t>Install dart and flutter plugin (This for both Android Studio and </a:t>
            </a:r>
            <a:r>
              <a:rPr lang="en-US" dirty="0" err="1"/>
              <a:t>VSCode</a:t>
            </a:r>
            <a:r>
              <a:rPr lang="en-US" dirty="0"/>
              <a:t>)</a:t>
            </a:r>
          </a:p>
          <a:p>
            <a:pPr marL="543085" lvl="1" indent="0">
              <a:buNone/>
            </a:pPr>
            <a:endParaRPr lang="en-US" dirty="0"/>
          </a:p>
          <a:p>
            <a:pPr marL="543085" lvl="1" indent="0">
              <a:buNone/>
            </a:pPr>
            <a:r>
              <a:rPr lang="en-US" dirty="0"/>
              <a:t>Run the default application using an emulator or Physical device</a:t>
            </a:r>
          </a:p>
          <a:p>
            <a:pPr marL="543085" lvl="1" indent="0">
              <a:buNone/>
            </a:pPr>
            <a:endParaRPr lang="en-US" dirty="0"/>
          </a:p>
        </p:txBody>
      </p:sp>
    </p:spTree>
    <p:extLst>
      <p:ext uri="{BB962C8B-B14F-4D97-AF65-F5344CB8AC3E}">
        <p14:creationId xmlns:p14="http://schemas.microsoft.com/office/powerpoint/2010/main" val="1904038854"/>
      </p:ext>
    </p:extLst>
  </p:cSld>
  <p:clrMapOvr>
    <a:masterClrMapping/>
  </p:clrMapOvr>
</p:sld>
</file>

<file path=ppt/theme/theme1.xml><?xml version="1.0" encoding="utf-8"?>
<a:theme xmlns:a="http://schemas.openxmlformats.org/drawingml/2006/main" name="DUtheme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Utheme3" id="{C13986A7-5E24-4EF2-A54C-03CDE31A118C}" vid="{6EC9223E-E7BE-422D-BF15-237F178D92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DUtheme3</Template>
  <TotalTime>3607</TotalTime>
  <Words>1055</Words>
  <Application>Microsoft Office PowerPoint</Application>
  <PresentationFormat>Widescreen</PresentationFormat>
  <Paragraphs>94</Paragraphs>
  <Slides>20</Slides>
  <Notes>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20</vt:i4>
      </vt:variant>
    </vt:vector>
  </HeadingPairs>
  <TitlesOfParts>
    <vt:vector size="34" baseType="lpstr">
      <vt:lpstr>Aptos</vt:lpstr>
      <vt:lpstr>Arial</vt:lpstr>
      <vt:lpstr>AvertaStd</vt:lpstr>
      <vt:lpstr>Calibri</vt:lpstr>
      <vt:lpstr>Droid Serif</vt:lpstr>
      <vt:lpstr>Poppins</vt:lpstr>
      <vt:lpstr>proxima-nova-n6</vt:lpstr>
      <vt:lpstr>system-ui</vt:lpstr>
      <vt:lpstr>Times New Roman</vt:lpstr>
      <vt:lpstr>var(--font-family-body-lesson-markdown,"Droid Serif")</vt:lpstr>
      <vt:lpstr>var(--font-family-heading-lesson-markdown)</vt:lpstr>
      <vt:lpstr>var(--font-gsans)</vt:lpstr>
      <vt:lpstr>Wingdings</vt:lpstr>
      <vt:lpstr>DUtheme3</vt:lpstr>
      <vt:lpstr>ACS314  MOBILE APPLICATION DEVELOPMENT</vt:lpstr>
      <vt:lpstr>Reflection</vt:lpstr>
      <vt:lpstr>Introduction &amp; setting up the Android Studio </vt:lpstr>
      <vt:lpstr>Overview of Flutter framework  </vt:lpstr>
      <vt:lpstr>Some History in Mobile Application Development</vt:lpstr>
      <vt:lpstr>PowerPoint Presentation</vt:lpstr>
      <vt:lpstr>Native App Development Benefits</vt:lpstr>
      <vt:lpstr>PowerPoint Presentation</vt:lpstr>
      <vt:lpstr>Hybrid vs. cross-platform  The central theme connecting hybrid and cross-platform app development frameworks is code shareability/single codebase , they achieve this in a totally different way! </vt:lpstr>
      <vt:lpstr>PowerPoint Presentation</vt:lpstr>
      <vt:lpstr>Features of Flutter Framework</vt:lpstr>
      <vt:lpstr>PowerPoint Presentation</vt:lpstr>
      <vt:lpstr>Another Language??! Why</vt:lpstr>
      <vt:lpstr>PowerPoint Presentation</vt:lpstr>
      <vt:lpstr>PowerPoint Presentation</vt:lpstr>
      <vt:lpstr>PowerPoint Presentation</vt:lpstr>
      <vt:lpstr>IDEs for Flutter Development</vt:lpstr>
      <vt:lpstr>Setting up</vt:lpstr>
      <vt:lpstr>Testing Applications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ACS314  MOBILE APPLICATION DEVELOPMENT</dc:title>
  <dc:creator>Anthony Wambua</dc:creator>
  <cp:lastModifiedBy>Anthony Wambua</cp:lastModifiedBy>
  <cp:revision>51</cp:revision>
  <dcterms:created xsi:type="dcterms:W3CDTF">2024-01-16T06:14:29Z</dcterms:created>
  <dcterms:modified xsi:type="dcterms:W3CDTF">2025-01-03T08:51:36Z</dcterms:modified>
</cp:coreProperties>
</file>